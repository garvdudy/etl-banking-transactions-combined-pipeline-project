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DD1D84-42FB-8245-BC58-A583FDB82811}" v="29" dt="2025-12-20T03:53:25.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p:restoredTop sz="94598"/>
  </p:normalViewPr>
  <p:slideViewPr>
    <p:cSldViewPr snapToGrid="0">
      <p:cViewPr varScale="1">
        <p:scale>
          <a:sx n="151" d="100"/>
          <a:sy n="151" d="100"/>
        </p:scale>
        <p:origin x="8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v ." userId="517ebc9b-5a76-4003-9b3c-a98d08664bbd" providerId="ADAL" clId="{F659861F-A15D-5394-9866-47331A7A7B4B}"/>
    <pc:docChg chg="undo redo custSel addSld modSld">
      <pc:chgData name="Garv ." userId="517ebc9b-5a76-4003-9b3c-a98d08664bbd" providerId="ADAL" clId="{F659861F-A15D-5394-9866-47331A7A7B4B}" dt="2025-12-20T04:15:54.332" v="9146"/>
      <pc:docMkLst>
        <pc:docMk/>
      </pc:docMkLst>
      <pc:sldChg chg="modTransition">
        <pc:chgData name="Garv ." userId="517ebc9b-5a76-4003-9b3c-a98d08664bbd" providerId="ADAL" clId="{F659861F-A15D-5394-9866-47331A7A7B4B}" dt="2025-12-20T04:14:31.666" v="9123"/>
        <pc:sldMkLst>
          <pc:docMk/>
          <pc:sldMk cId="294098445" sldId="256"/>
        </pc:sldMkLst>
      </pc:sldChg>
      <pc:sldChg chg="modTransition">
        <pc:chgData name="Garv ." userId="517ebc9b-5a76-4003-9b3c-a98d08664bbd" providerId="ADAL" clId="{F659861F-A15D-5394-9866-47331A7A7B4B}" dt="2025-12-20T04:14:53.432" v="9130"/>
        <pc:sldMkLst>
          <pc:docMk/>
          <pc:sldMk cId="56535730" sldId="257"/>
        </pc:sldMkLst>
      </pc:sldChg>
      <pc:sldChg chg="modTransition">
        <pc:chgData name="Garv ." userId="517ebc9b-5a76-4003-9b3c-a98d08664bbd" providerId="ADAL" clId="{F659861F-A15D-5394-9866-47331A7A7B4B}" dt="2025-12-20T04:14:48.933" v="9128"/>
        <pc:sldMkLst>
          <pc:docMk/>
          <pc:sldMk cId="1834511987" sldId="258"/>
        </pc:sldMkLst>
      </pc:sldChg>
      <pc:sldChg chg="modTransition">
        <pc:chgData name="Garv ." userId="517ebc9b-5a76-4003-9b3c-a98d08664bbd" providerId="ADAL" clId="{F659861F-A15D-5394-9866-47331A7A7B4B}" dt="2025-12-20T04:14:57.583" v="9131"/>
        <pc:sldMkLst>
          <pc:docMk/>
          <pc:sldMk cId="410109089" sldId="259"/>
        </pc:sldMkLst>
      </pc:sldChg>
      <pc:sldChg chg="modTransition">
        <pc:chgData name="Garv ." userId="517ebc9b-5a76-4003-9b3c-a98d08664bbd" providerId="ADAL" clId="{F659861F-A15D-5394-9866-47331A7A7B4B}" dt="2025-12-20T04:15:00.284" v="9132"/>
        <pc:sldMkLst>
          <pc:docMk/>
          <pc:sldMk cId="3605346014" sldId="260"/>
        </pc:sldMkLst>
      </pc:sldChg>
      <pc:sldChg chg="modSp mod modTransition">
        <pc:chgData name="Garv ." userId="517ebc9b-5a76-4003-9b3c-a98d08664bbd" providerId="ADAL" clId="{F659861F-A15D-5394-9866-47331A7A7B4B}" dt="2025-12-20T04:15:02.916" v="9133"/>
        <pc:sldMkLst>
          <pc:docMk/>
          <pc:sldMk cId="161166094" sldId="261"/>
        </pc:sldMkLst>
        <pc:spChg chg="mod">
          <ac:chgData name="Garv ." userId="517ebc9b-5a76-4003-9b3c-a98d08664bbd" providerId="ADAL" clId="{F659861F-A15D-5394-9866-47331A7A7B4B}" dt="2025-12-19T21:01:55.431" v="521" actId="20577"/>
          <ac:spMkLst>
            <pc:docMk/>
            <pc:sldMk cId="161166094" sldId="261"/>
            <ac:spMk id="3" creationId="{16515A67-74BD-9E19-7813-B2789C4F84D5}"/>
          </ac:spMkLst>
        </pc:spChg>
      </pc:sldChg>
      <pc:sldChg chg="modSp mod modTransition">
        <pc:chgData name="Garv ." userId="517ebc9b-5a76-4003-9b3c-a98d08664bbd" providerId="ADAL" clId="{F659861F-A15D-5394-9866-47331A7A7B4B}" dt="2025-12-20T04:15:05.198" v="9134"/>
        <pc:sldMkLst>
          <pc:docMk/>
          <pc:sldMk cId="2362849659" sldId="262"/>
        </pc:sldMkLst>
        <pc:spChg chg="mod">
          <ac:chgData name="Garv ." userId="517ebc9b-5a76-4003-9b3c-a98d08664bbd" providerId="ADAL" clId="{F659861F-A15D-5394-9866-47331A7A7B4B}" dt="2025-12-19T20:54:06.277" v="36" actId="313"/>
          <ac:spMkLst>
            <pc:docMk/>
            <pc:sldMk cId="2362849659" sldId="262"/>
            <ac:spMk id="2" creationId="{DB3A7AB7-6372-D093-75DC-626530ABBBB0}"/>
          </ac:spMkLst>
        </pc:spChg>
        <pc:spChg chg="mod">
          <ac:chgData name="Garv ." userId="517ebc9b-5a76-4003-9b3c-a98d08664bbd" providerId="ADAL" clId="{F659861F-A15D-5394-9866-47331A7A7B4B}" dt="2025-12-19T21:02:09.785" v="541" actId="313"/>
          <ac:spMkLst>
            <pc:docMk/>
            <pc:sldMk cId="2362849659" sldId="262"/>
            <ac:spMk id="3" creationId="{EF66727E-7C71-1948-AFAB-EF577B431A06}"/>
          </ac:spMkLst>
        </pc:spChg>
      </pc:sldChg>
      <pc:sldChg chg="addSp modSp new mod modTransition">
        <pc:chgData name="Garv ." userId="517ebc9b-5a76-4003-9b3c-a98d08664bbd" providerId="ADAL" clId="{F659861F-A15D-5394-9866-47331A7A7B4B}" dt="2025-12-20T04:15:07.399" v="9135"/>
        <pc:sldMkLst>
          <pc:docMk/>
          <pc:sldMk cId="1674953985" sldId="263"/>
        </pc:sldMkLst>
        <pc:spChg chg="mod">
          <ac:chgData name="Garv ." userId="517ebc9b-5a76-4003-9b3c-a98d08664bbd" providerId="ADAL" clId="{F659861F-A15D-5394-9866-47331A7A7B4B}" dt="2025-12-19T21:44:06.463" v="561" actId="20577"/>
          <ac:spMkLst>
            <pc:docMk/>
            <pc:sldMk cId="1674953985" sldId="263"/>
            <ac:spMk id="2" creationId="{5FFDC9E4-426C-E933-DC3E-7B1A4101A069}"/>
          </ac:spMkLst>
        </pc:spChg>
        <pc:spChg chg="mod">
          <ac:chgData name="Garv ." userId="517ebc9b-5a76-4003-9b3c-a98d08664bbd" providerId="ADAL" clId="{F659861F-A15D-5394-9866-47331A7A7B4B}" dt="2025-12-19T22:29:09.368" v="1698" actId="1076"/>
          <ac:spMkLst>
            <pc:docMk/>
            <pc:sldMk cId="1674953985" sldId="263"/>
            <ac:spMk id="3" creationId="{DC8C6A0F-AD84-A6BA-D0FC-41428439EEF3}"/>
          </ac:spMkLst>
        </pc:spChg>
        <pc:spChg chg="add">
          <ac:chgData name="Garv ." userId="517ebc9b-5a76-4003-9b3c-a98d08664bbd" providerId="ADAL" clId="{F659861F-A15D-5394-9866-47331A7A7B4B}" dt="2025-12-19T22:18:59.189" v="1073"/>
          <ac:spMkLst>
            <pc:docMk/>
            <pc:sldMk cId="1674953985" sldId="263"/>
            <ac:spMk id="4" creationId="{1E2767CC-7FFE-D84C-C577-686191F0CD2A}"/>
          </ac:spMkLst>
        </pc:spChg>
      </pc:sldChg>
      <pc:sldChg chg="addSp delSp modSp new mod modTransition setBg">
        <pc:chgData name="Garv ." userId="517ebc9b-5a76-4003-9b3c-a98d08664bbd" providerId="ADAL" clId="{F659861F-A15D-5394-9866-47331A7A7B4B}" dt="2025-12-20T04:15:31.015" v="9140"/>
        <pc:sldMkLst>
          <pc:docMk/>
          <pc:sldMk cId="2080373582" sldId="264"/>
        </pc:sldMkLst>
        <pc:spChg chg="mod">
          <ac:chgData name="Garv ." userId="517ebc9b-5a76-4003-9b3c-a98d08664bbd" providerId="ADAL" clId="{F659861F-A15D-5394-9866-47331A7A7B4B}" dt="2025-12-19T22:52:31.290" v="2245" actId="26606"/>
          <ac:spMkLst>
            <pc:docMk/>
            <pc:sldMk cId="2080373582" sldId="264"/>
            <ac:spMk id="2" creationId="{62044C42-26D3-9EE4-0E31-C9F9749B2E2C}"/>
          </ac:spMkLst>
        </pc:spChg>
        <pc:spChg chg="add del mod">
          <ac:chgData name="Garv ." userId="517ebc9b-5a76-4003-9b3c-a98d08664bbd" providerId="ADAL" clId="{F659861F-A15D-5394-9866-47331A7A7B4B}" dt="2025-12-20T03:49:25.065" v="7422" actId="14100"/>
          <ac:spMkLst>
            <pc:docMk/>
            <pc:sldMk cId="2080373582" sldId="264"/>
            <ac:spMk id="3" creationId="{5AD7D877-273A-2C32-A25E-309BF2DD96F3}"/>
          </ac:spMkLst>
        </pc:spChg>
        <pc:spChg chg="add mod">
          <ac:chgData name="Garv ." userId="517ebc9b-5a76-4003-9b3c-a98d08664bbd" providerId="ADAL" clId="{F659861F-A15D-5394-9866-47331A7A7B4B}" dt="2025-12-19T22:04:28.544" v="1036" actId="767"/>
          <ac:spMkLst>
            <pc:docMk/>
            <pc:sldMk cId="2080373582" sldId="264"/>
            <ac:spMk id="6" creationId="{A6B74219-8F43-0C6D-A8D5-DDE68951EA2B}"/>
          </ac:spMkLst>
        </pc:spChg>
        <pc:picChg chg="add mod">
          <ac:chgData name="Garv ." userId="517ebc9b-5a76-4003-9b3c-a98d08664bbd" providerId="ADAL" clId="{F659861F-A15D-5394-9866-47331A7A7B4B}" dt="2025-12-19T22:04:30.234" v="1044" actId="931"/>
          <ac:picMkLst>
            <pc:docMk/>
            <pc:sldMk cId="2080373582" sldId="264"/>
            <ac:picMk id="5" creationId="{618F1A1A-ACD6-1737-63EE-99219D3BF37B}"/>
          </ac:picMkLst>
        </pc:picChg>
        <pc:picChg chg="add mod">
          <ac:chgData name="Garv ." userId="517ebc9b-5a76-4003-9b3c-a98d08664bbd" providerId="ADAL" clId="{F659861F-A15D-5394-9866-47331A7A7B4B}" dt="2025-12-20T03:49:27.714" v="7423" actId="1076"/>
          <ac:picMkLst>
            <pc:docMk/>
            <pc:sldMk cId="2080373582" sldId="264"/>
            <ac:picMk id="8" creationId="{BA989132-4260-A351-7667-6014D216C390}"/>
          </ac:picMkLst>
        </pc:picChg>
      </pc:sldChg>
      <pc:sldChg chg="addSp delSp modSp new mod modTransition setBg setClrOvrMap">
        <pc:chgData name="Garv ." userId="517ebc9b-5a76-4003-9b3c-a98d08664bbd" providerId="ADAL" clId="{F659861F-A15D-5394-9866-47331A7A7B4B}" dt="2025-12-20T04:15:36.349" v="9141"/>
        <pc:sldMkLst>
          <pc:docMk/>
          <pc:sldMk cId="3572818827" sldId="265"/>
        </pc:sldMkLst>
        <pc:spChg chg="mod">
          <ac:chgData name="Garv ." userId="517ebc9b-5a76-4003-9b3c-a98d08664bbd" providerId="ADAL" clId="{F659861F-A15D-5394-9866-47331A7A7B4B}" dt="2025-12-19T23:43:47.108" v="4361" actId="14100"/>
          <ac:spMkLst>
            <pc:docMk/>
            <pc:sldMk cId="3572818827" sldId="265"/>
            <ac:spMk id="2" creationId="{BCAD6E7B-97D4-2260-428B-0824607A9ADE}"/>
          </ac:spMkLst>
        </pc:spChg>
        <pc:spChg chg="mod">
          <ac:chgData name="Garv ." userId="517ebc9b-5a76-4003-9b3c-a98d08664bbd" providerId="ADAL" clId="{F659861F-A15D-5394-9866-47331A7A7B4B}" dt="2025-12-20T01:49:59.410" v="4443" actId="403"/>
          <ac:spMkLst>
            <pc:docMk/>
            <pc:sldMk cId="3572818827" sldId="265"/>
            <ac:spMk id="3" creationId="{944A0FCD-F4CC-46B4-AB90-DF08A0C554F4}"/>
          </ac:spMkLst>
        </pc:spChg>
        <pc:spChg chg="add del">
          <ac:chgData name="Garv ." userId="517ebc9b-5a76-4003-9b3c-a98d08664bbd" providerId="ADAL" clId="{F659861F-A15D-5394-9866-47331A7A7B4B}" dt="2025-12-19T23:06:35.322" v="2840" actId="26606"/>
          <ac:spMkLst>
            <pc:docMk/>
            <pc:sldMk cId="3572818827" sldId="265"/>
            <ac:spMk id="7" creationId="{E9D11FD5-487C-4A6B-836F-3831DC830FB7}"/>
          </ac:spMkLst>
        </pc:spChg>
        <pc:spChg chg="add del">
          <ac:chgData name="Garv ." userId="517ebc9b-5a76-4003-9b3c-a98d08664bbd" providerId="ADAL" clId="{F659861F-A15D-5394-9866-47331A7A7B4B}" dt="2025-12-19T23:06:35.322" v="2840" actId="26606"/>
          <ac:spMkLst>
            <pc:docMk/>
            <pc:sldMk cId="3572818827" sldId="265"/>
            <ac:spMk id="8" creationId="{99765169-F70D-4841-BE65-62E10CBED84D}"/>
          </ac:spMkLst>
        </pc:spChg>
        <pc:spChg chg="add del">
          <ac:chgData name="Garv ." userId="517ebc9b-5a76-4003-9b3c-a98d08664bbd" providerId="ADAL" clId="{F659861F-A15D-5394-9866-47331A7A7B4B}" dt="2025-12-19T23:06:41.706" v="2842" actId="26606"/>
          <ac:spMkLst>
            <pc:docMk/>
            <pc:sldMk cId="3572818827" sldId="265"/>
            <ac:spMk id="9" creationId="{7A5FC171-5EF1-470A-B19B-DB937973D2A7}"/>
          </ac:spMkLst>
        </pc:spChg>
        <pc:spChg chg="add del">
          <ac:chgData name="Garv ." userId="517ebc9b-5a76-4003-9b3c-a98d08664bbd" providerId="ADAL" clId="{F659861F-A15D-5394-9866-47331A7A7B4B}" dt="2025-12-19T23:05:46.208" v="2828" actId="26606"/>
          <ac:spMkLst>
            <pc:docMk/>
            <pc:sldMk cId="3572818827" sldId="265"/>
            <ac:spMk id="10" creationId="{35879851-1A1D-4246-AAA1-C484E858337D}"/>
          </ac:spMkLst>
        </pc:spChg>
        <pc:spChg chg="add del">
          <ac:chgData name="Garv ." userId="517ebc9b-5a76-4003-9b3c-a98d08664bbd" providerId="ADAL" clId="{F659861F-A15D-5394-9866-47331A7A7B4B}" dt="2025-12-19T23:06:35.322" v="2840" actId="26606"/>
          <ac:spMkLst>
            <pc:docMk/>
            <pc:sldMk cId="3572818827" sldId="265"/>
            <ac:spMk id="14" creationId="{2A2CC818-8106-45C0-93D5-7051F99F2C81}"/>
          </ac:spMkLst>
        </pc:spChg>
        <pc:spChg chg="add del">
          <ac:chgData name="Garv ." userId="517ebc9b-5a76-4003-9b3c-a98d08664bbd" providerId="ADAL" clId="{F659861F-A15D-5394-9866-47331A7A7B4B}" dt="2025-12-19T23:05:57.146" v="2830" actId="26606"/>
          <ac:spMkLst>
            <pc:docMk/>
            <pc:sldMk cId="3572818827" sldId="265"/>
            <ac:spMk id="25" creationId="{7A5FC171-5EF1-470A-B19B-DB937973D2A7}"/>
          </ac:spMkLst>
        </pc:spChg>
        <pc:spChg chg="add del">
          <ac:chgData name="Garv ." userId="517ebc9b-5a76-4003-9b3c-a98d08664bbd" providerId="ADAL" clId="{F659861F-A15D-5394-9866-47331A7A7B4B}" dt="2025-12-19T23:05:57.146" v="2830" actId="26606"/>
          <ac:spMkLst>
            <pc:docMk/>
            <pc:sldMk cId="3572818827" sldId="265"/>
            <ac:spMk id="40" creationId="{685D77DF-610F-4D0F-A3D2-4FBBC96640E4}"/>
          </ac:spMkLst>
        </pc:spChg>
        <pc:spChg chg="add del">
          <ac:chgData name="Garv ." userId="517ebc9b-5a76-4003-9b3c-a98d08664bbd" providerId="ADAL" clId="{F659861F-A15D-5394-9866-47331A7A7B4B}" dt="2025-12-19T23:05:57.146" v="2830" actId="26606"/>
          <ac:spMkLst>
            <pc:docMk/>
            <pc:sldMk cId="3572818827" sldId="265"/>
            <ac:spMk id="42" creationId="{2513384B-399F-47B1-9ABD-172607AA4E6E}"/>
          </ac:spMkLst>
        </pc:spChg>
        <pc:spChg chg="add del">
          <ac:chgData name="Garv ." userId="517ebc9b-5a76-4003-9b3c-a98d08664bbd" providerId="ADAL" clId="{F659861F-A15D-5394-9866-47331A7A7B4B}" dt="2025-12-19T23:06:41.706" v="2842" actId="26606"/>
          <ac:spMkLst>
            <pc:docMk/>
            <pc:sldMk cId="3572818827" sldId="265"/>
            <ac:spMk id="43" creationId="{685D77DF-610F-4D0F-A3D2-4FBBC96640E4}"/>
          </ac:spMkLst>
        </pc:spChg>
        <pc:spChg chg="add del">
          <ac:chgData name="Garv ." userId="517ebc9b-5a76-4003-9b3c-a98d08664bbd" providerId="ADAL" clId="{F659861F-A15D-5394-9866-47331A7A7B4B}" dt="2025-12-19T23:06:00.192" v="2832" actId="26606"/>
          <ac:spMkLst>
            <pc:docMk/>
            <pc:sldMk cId="3572818827" sldId="265"/>
            <ac:spMk id="44" creationId="{7A5FC171-5EF1-470A-B19B-DB937973D2A7}"/>
          </ac:spMkLst>
        </pc:spChg>
        <pc:spChg chg="add del">
          <ac:chgData name="Garv ." userId="517ebc9b-5a76-4003-9b3c-a98d08664bbd" providerId="ADAL" clId="{F659861F-A15D-5394-9866-47331A7A7B4B}" dt="2025-12-19T23:06:00.192" v="2832" actId="26606"/>
          <ac:spMkLst>
            <pc:docMk/>
            <pc:sldMk cId="3572818827" sldId="265"/>
            <ac:spMk id="45" creationId="{685D77DF-610F-4D0F-A3D2-4FBBC96640E4}"/>
          </ac:spMkLst>
        </pc:spChg>
        <pc:spChg chg="add del">
          <ac:chgData name="Garv ." userId="517ebc9b-5a76-4003-9b3c-a98d08664bbd" providerId="ADAL" clId="{F659861F-A15D-5394-9866-47331A7A7B4B}" dt="2025-12-19T23:06:00.192" v="2832" actId="26606"/>
          <ac:spMkLst>
            <pc:docMk/>
            <pc:sldMk cId="3572818827" sldId="265"/>
            <ac:spMk id="46" creationId="{2513384B-399F-47B1-9ABD-172607AA4E6E}"/>
          </ac:spMkLst>
        </pc:spChg>
        <pc:spChg chg="add del">
          <ac:chgData name="Garv ." userId="517ebc9b-5a76-4003-9b3c-a98d08664bbd" providerId="ADAL" clId="{F659861F-A15D-5394-9866-47331A7A7B4B}" dt="2025-12-19T23:06:41.706" v="2842" actId="26606"/>
          <ac:spMkLst>
            <pc:docMk/>
            <pc:sldMk cId="3572818827" sldId="265"/>
            <ac:spMk id="47" creationId="{2513384B-399F-47B1-9ABD-172607AA4E6E}"/>
          </ac:spMkLst>
        </pc:spChg>
        <pc:spChg chg="add del">
          <ac:chgData name="Garv ." userId="517ebc9b-5a76-4003-9b3c-a98d08664bbd" providerId="ADAL" clId="{F659861F-A15D-5394-9866-47331A7A7B4B}" dt="2025-12-19T23:06:03.976" v="2834" actId="26606"/>
          <ac:spMkLst>
            <pc:docMk/>
            <pc:sldMk cId="3572818827" sldId="265"/>
            <ac:spMk id="48" creationId="{A5A47686-9FEE-4CF5-850A-81E28E6AA48D}"/>
          </ac:spMkLst>
        </pc:spChg>
        <pc:spChg chg="add del">
          <ac:chgData name="Garv ." userId="517ebc9b-5a76-4003-9b3c-a98d08664bbd" providerId="ADAL" clId="{F659861F-A15D-5394-9866-47331A7A7B4B}" dt="2025-12-19T23:41:46.448" v="4318" actId="26606"/>
          <ac:spMkLst>
            <pc:docMk/>
            <pc:sldMk cId="3572818827" sldId="265"/>
            <ac:spMk id="54" creationId="{35879851-1A1D-4246-AAA1-C484E858337D}"/>
          </ac:spMkLst>
        </pc:spChg>
        <pc:spChg chg="add del">
          <ac:chgData name="Garv ." userId="517ebc9b-5a76-4003-9b3c-a98d08664bbd" providerId="ADAL" clId="{F659861F-A15D-5394-9866-47331A7A7B4B}" dt="2025-12-19T23:42:04.996" v="4324" actId="26606"/>
          <ac:spMkLst>
            <pc:docMk/>
            <pc:sldMk cId="3572818827" sldId="265"/>
            <ac:spMk id="56" creationId="{7A5FC171-5EF1-470A-B19B-DB937973D2A7}"/>
          </ac:spMkLst>
        </pc:spChg>
        <pc:spChg chg="add del">
          <ac:chgData name="Garv ." userId="517ebc9b-5a76-4003-9b3c-a98d08664bbd" providerId="ADAL" clId="{F659861F-A15D-5394-9866-47331A7A7B4B}" dt="2025-12-19T23:42:13.526" v="4329" actId="26606"/>
          <ac:spMkLst>
            <pc:docMk/>
            <pc:sldMk cId="3572818827" sldId="265"/>
            <ac:spMk id="60" creationId="{531E865F-583A-41A7-8FC4-630555C081EA}"/>
          </ac:spMkLst>
        </pc:spChg>
        <pc:spChg chg="add del">
          <ac:chgData name="Garv ." userId="517ebc9b-5a76-4003-9b3c-a98d08664bbd" providerId="ADAL" clId="{F659861F-A15D-5394-9866-47331A7A7B4B}" dt="2025-12-19T23:42:04.996" v="4324" actId="26606"/>
          <ac:spMkLst>
            <pc:docMk/>
            <pc:sldMk cId="3572818827" sldId="265"/>
            <ac:spMk id="86" creationId="{685D77DF-610F-4D0F-A3D2-4FBBC96640E4}"/>
          </ac:spMkLst>
        </pc:spChg>
        <pc:spChg chg="add del">
          <ac:chgData name="Garv ." userId="517ebc9b-5a76-4003-9b3c-a98d08664bbd" providerId="ADAL" clId="{F659861F-A15D-5394-9866-47331A7A7B4B}" dt="2025-12-19T23:42:04.996" v="4324" actId="26606"/>
          <ac:spMkLst>
            <pc:docMk/>
            <pc:sldMk cId="3572818827" sldId="265"/>
            <ac:spMk id="88" creationId="{2513384B-399F-47B1-9ABD-172607AA4E6E}"/>
          </ac:spMkLst>
        </pc:spChg>
        <pc:spChg chg="add del">
          <ac:chgData name="Garv ." userId="517ebc9b-5a76-4003-9b3c-a98d08664bbd" providerId="ADAL" clId="{F659861F-A15D-5394-9866-47331A7A7B4B}" dt="2025-12-19T23:42:11.556" v="4327" actId="26606"/>
          <ac:spMkLst>
            <pc:docMk/>
            <pc:sldMk cId="3572818827" sldId="265"/>
            <ac:spMk id="90" creationId="{584FD149-94B6-4257-AB5B-C478E6038F9E}"/>
          </ac:spMkLst>
        </pc:spChg>
        <pc:spChg chg="add del">
          <ac:chgData name="Garv ." userId="517ebc9b-5a76-4003-9b3c-a98d08664bbd" providerId="ADAL" clId="{F659861F-A15D-5394-9866-47331A7A7B4B}" dt="2025-12-19T23:42:11.556" v="4327" actId="26606"/>
          <ac:spMkLst>
            <pc:docMk/>
            <pc:sldMk cId="3572818827" sldId="265"/>
            <ac:spMk id="91" creationId="{4743F4F4-276D-4A4D-930A-0530386F9820}"/>
          </ac:spMkLst>
        </pc:spChg>
        <pc:spChg chg="add del">
          <ac:chgData name="Garv ." userId="517ebc9b-5a76-4003-9b3c-a98d08664bbd" providerId="ADAL" clId="{F659861F-A15D-5394-9866-47331A7A7B4B}" dt="2025-12-19T23:42:11.556" v="4327" actId="26606"/>
          <ac:spMkLst>
            <pc:docMk/>
            <pc:sldMk cId="3572818827" sldId="265"/>
            <ac:spMk id="92" creationId="{AA1386B8-14BD-4682-B537-BC9027D6EDCB}"/>
          </ac:spMkLst>
        </pc:spChg>
        <pc:spChg chg="add del">
          <ac:chgData name="Garv ." userId="517ebc9b-5a76-4003-9b3c-a98d08664bbd" providerId="ADAL" clId="{F659861F-A15D-5394-9866-47331A7A7B4B}" dt="2025-12-19T23:42:13.526" v="4329" actId="26606"/>
          <ac:spMkLst>
            <pc:docMk/>
            <pc:sldMk cId="3572818827" sldId="265"/>
            <ac:spMk id="94" creationId="{35879851-1A1D-4246-AAA1-C484E858337D}"/>
          </ac:spMkLst>
        </pc:spChg>
        <pc:spChg chg="add del">
          <ac:chgData name="Garv ." userId="517ebc9b-5a76-4003-9b3c-a98d08664bbd" providerId="ADAL" clId="{F659861F-A15D-5394-9866-47331A7A7B4B}" dt="2025-12-19T23:42:13.526" v="4329" actId="26606"/>
          <ac:spMkLst>
            <pc:docMk/>
            <pc:sldMk cId="3572818827" sldId="265"/>
            <ac:spMk id="95" creationId="{047FC0EE-347A-48CD-B437-8E3C1E68071C}"/>
          </ac:spMkLst>
        </pc:spChg>
        <pc:spChg chg="add del">
          <ac:chgData name="Garv ." userId="517ebc9b-5a76-4003-9b3c-a98d08664bbd" providerId="ADAL" clId="{F659861F-A15D-5394-9866-47331A7A7B4B}" dt="2025-12-19T23:42:19.423" v="4331" actId="26606"/>
          <ac:spMkLst>
            <pc:docMk/>
            <pc:sldMk cId="3572818827" sldId="265"/>
            <ac:spMk id="97" creationId="{2B258D2B-6AC3-4B3A-A87C-FD7E6517826E}"/>
          </ac:spMkLst>
        </pc:spChg>
        <pc:spChg chg="add del">
          <ac:chgData name="Garv ." userId="517ebc9b-5a76-4003-9b3c-a98d08664bbd" providerId="ADAL" clId="{F659861F-A15D-5394-9866-47331A7A7B4B}" dt="2025-12-19T23:42:19.423" v="4331" actId="26606"/>
          <ac:spMkLst>
            <pc:docMk/>
            <pc:sldMk cId="3572818827" sldId="265"/>
            <ac:spMk id="98" creationId="{8D55DD8B-9BF9-4B91-A22D-2D3F2AEFF189}"/>
          </ac:spMkLst>
        </pc:spChg>
        <pc:spChg chg="add del">
          <ac:chgData name="Garv ." userId="517ebc9b-5a76-4003-9b3c-a98d08664bbd" providerId="ADAL" clId="{F659861F-A15D-5394-9866-47331A7A7B4B}" dt="2025-12-19T23:42:20.654" v="4334" actId="26606"/>
          <ac:spMkLst>
            <pc:docMk/>
            <pc:sldMk cId="3572818827" sldId="265"/>
            <ac:spMk id="100" creationId="{A45303F1-AF94-4311-B5EF-A9C5F6D18D94}"/>
          </ac:spMkLst>
        </pc:spChg>
        <pc:spChg chg="add del">
          <ac:chgData name="Garv ." userId="517ebc9b-5a76-4003-9b3c-a98d08664bbd" providerId="ADAL" clId="{F659861F-A15D-5394-9866-47331A7A7B4B}" dt="2025-12-19T23:42:20.654" v="4334" actId="26606"/>
          <ac:spMkLst>
            <pc:docMk/>
            <pc:sldMk cId="3572818827" sldId="265"/>
            <ac:spMk id="101" creationId="{11310D98-E16D-4AA1-8834-28F2202C0CC3}"/>
          </ac:spMkLst>
        </pc:spChg>
        <pc:spChg chg="add del">
          <ac:chgData name="Garv ." userId="517ebc9b-5a76-4003-9b3c-a98d08664bbd" providerId="ADAL" clId="{F659861F-A15D-5394-9866-47331A7A7B4B}" dt="2025-12-19T23:42:20.654" v="4334" actId="26606"/>
          <ac:spMkLst>
            <pc:docMk/>
            <pc:sldMk cId="3572818827" sldId="265"/>
            <ac:spMk id="102" creationId="{5B65E675-687B-4B31-9CB4-880C4620538F}"/>
          </ac:spMkLst>
        </pc:spChg>
        <pc:spChg chg="add del">
          <ac:chgData name="Garv ." userId="517ebc9b-5a76-4003-9b3c-a98d08664bbd" providerId="ADAL" clId="{F659861F-A15D-5394-9866-47331A7A7B4B}" dt="2025-12-19T23:42:26.849" v="4336" actId="26606"/>
          <ac:spMkLst>
            <pc:docMk/>
            <pc:sldMk cId="3572818827" sldId="265"/>
            <ac:spMk id="104" creationId="{7A5FC171-5EF1-470A-B19B-DB937973D2A7}"/>
          </ac:spMkLst>
        </pc:spChg>
        <pc:spChg chg="add del">
          <ac:chgData name="Garv ." userId="517ebc9b-5a76-4003-9b3c-a98d08664bbd" providerId="ADAL" clId="{F659861F-A15D-5394-9866-47331A7A7B4B}" dt="2025-12-19T23:42:26.849" v="4336" actId="26606"/>
          <ac:spMkLst>
            <pc:docMk/>
            <pc:sldMk cId="3572818827" sldId="265"/>
            <ac:spMk id="105" creationId="{685D77DF-610F-4D0F-A3D2-4FBBC96640E4}"/>
          </ac:spMkLst>
        </pc:spChg>
        <pc:spChg chg="add del">
          <ac:chgData name="Garv ." userId="517ebc9b-5a76-4003-9b3c-a98d08664bbd" providerId="ADAL" clId="{F659861F-A15D-5394-9866-47331A7A7B4B}" dt="2025-12-19T23:42:26.849" v="4336" actId="26606"/>
          <ac:spMkLst>
            <pc:docMk/>
            <pc:sldMk cId="3572818827" sldId="265"/>
            <ac:spMk id="106" creationId="{2513384B-399F-47B1-9ABD-172607AA4E6E}"/>
          </ac:spMkLst>
        </pc:spChg>
        <pc:grpChg chg="add del">
          <ac:chgData name="Garv ." userId="517ebc9b-5a76-4003-9b3c-a98d08664bbd" providerId="ADAL" clId="{F659861F-A15D-5394-9866-47331A7A7B4B}" dt="2025-12-19T23:06:41.706" v="2842" actId="26606"/>
          <ac:grpSpMkLst>
            <pc:docMk/>
            <pc:sldMk cId="3572818827" sldId="265"/>
            <ac:grpSpMk id="11" creationId="{AAD68EE7-6E6F-4168-83FE-BCDDC20F569D}"/>
          </ac:grpSpMkLst>
        </pc:grpChg>
        <pc:grpChg chg="add del">
          <ac:chgData name="Garv ." userId="517ebc9b-5a76-4003-9b3c-a98d08664bbd" providerId="ADAL" clId="{F659861F-A15D-5394-9866-47331A7A7B4B}" dt="2025-12-19T23:05:57.146" v="2830" actId="26606"/>
          <ac:grpSpMkLst>
            <pc:docMk/>
            <pc:sldMk cId="3572818827" sldId="265"/>
            <ac:grpSpMk id="12" creationId="{AAD68EE7-6E6F-4168-83FE-BCDDC20F569D}"/>
          </ac:grpSpMkLst>
        </pc:grpChg>
        <pc:grpChg chg="add del">
          <ac:chgData name="Garv ." userId="517ebc9b-5a76-4003-9b3c-a98d08664bbd" providerId="ADAL" clId="{F659861F-A15D-5394-9866-47331A7A7B4B}" dt="2025-12-19T23:05:57.146" v="2830" actId="26606"/>
          <ac:grpSpMkLst>
            <pc:docMk/>
            <pc:sldMk cId="3572818827" sldId="265"/>
            <ac:grpSpMk id="26" creationId="{4D8D5B2B-7539-4692-96C7-956FDD481D65}"/>
          </ac:grpSpMkLst>
        </pc:grpChg>
        <pc:grpChg chg="add del">
          <ac:chgData name="Garv ." userId="517ebc9b-5a76-4003-9b3c-a98d08664bbd" providerId="ADAL" clId="{F659861F-A15D-5394-9866-47331A7A7B4B}" dt="2025-12-19T23:06:41.706" v="2842" actId="26606"/>
          <ac:grpSpMkLst>
            <pc:docMk/>
            <pc:sldMk cId="3572818827" sldId="265"/>
            <ac:grpSpMk id="41" creationId="{4D8D5B2B-7539-4692-96C7-956FDD481D65}"/>
          </ac:grpSpMkLst>
        </pc:grpChg>
        <pc:grpChg chg="add del">
          <ac:chgData name="Garv ." userId="517ebc9b-5a76-4003-9b3c-a98d08664bbd" providerId="ADAL" clId="{F659861F-A15D-5394-9866-47331A7A7B4B}" dt="2025-12-19T23:42:04.996" v="4324" actId="26606"/>
          <ac:grpSpMkLst>
            <pc:docMk/>
            <pc:sldMk cId="3572818827" sldId="265"/>
            <ac:grpSpMk id="58" creationId="{AAD68EE7-6E6F-4168-83FE-BCDDC20F569D}"/>
          </ac:grpSpMkLst>
        </pc:grpChg>
        <pc:grpChg chg="add del">
          <ac:chgData name="Garv ." userId="517ebc9b-5a76-4003-9b3c-a98d08664bbd" providerId="ADAL" clId="{F659861F-A15D-5394-9866-47331A7A7B4B}" dt="2025-12-19T23:42:04.996" v="4324" actId="26606"/>
          <ac:grpSpMkLst>
            <pc:docMk/>
            <pc:sldMk cId="3572818827" sldId="265"/>
            <ac:grpSpMk id="72" creationId="{4D8D5B2B-7539-4692-96C7-956FDD481D65}"/>
          </ac:grpSpMkLst>
        </pc:grpChg>
        <pc:picChg chg="add del mod ord">
          <ac:chgData name="Garv ." userId="517ebc9b-5a76-4003-9b3c-a98d08664bbd" providerId="ADAL" clId="{F659861F-A15D-5394-9866-47331A7A7B4B}" dt="2025-12-19T23:08:21.757" v="2863" actId="931"/>
          <ac:picMkLst>
            <pc:docMk/>
            <pc:sldMk cId="3572818827" sldId="265"/>
            <ac:picMk id="5" creationId="{C29C9216-443D-9E26-9AF1-88A2BCD0C596}"/>
          </ac:picMkLst>
        </pc:picChg>
        <pc:picChg chg="add del mod ord">
          <ac:chgData name="Garv ." userId="517ebc9b-5a76-4003-9b3c-a98d08664bbd" providerId="ADAL" clId="{F659861F-A15D-5394-9866-47331A7A7B4B}" dt="2025-12-19T23:41:47.802" v="4319" actId="478"/>
          <ac:picMkLst>
            <pc:docMk/>
            <pc:sldMk cId="3572818827" sldId="265"/>
            <ac:picMk id="49" creationId="{F59F1272-08EA-1194-D244-7382A8568B54}"/>
          </ac:picMkLst>
        </pc:picChg>
        <pc:picChg chg="add mod ord">
          <ac:chgData name="Garv ." userId="517ebc9b-5a76-4003-9b3c-a98d08664bbd" providerId="ADAL" clId="{F659861F-A15D-5394-9866-47331A7A7B4B}" dt="2025-12-19T23:44:26.774" v="4367" actId="1076"/>
          <ac:picMkLst>
            <pc:docMk/>
            <pc:sldMk cId="3572818827" sldId="265"/>
            <ac:picMk id="51" creationId="{04AF317D-BB9D-31FA-CE33-C15E49E9735A}"/>
          </ac:picMkLst>
        </pc:picChg>
      </pc:sldChg>
      <pc:sldChg chg="addSp delSp modSp new mod modTransition setBg">
        <pc:chgData name="Garv ." userId="517ebc9b-5a76-4003-9b3c-a98d08664bbd" providerId="ADAL" clId="{F659861F-A15D-5394-9866-47331A7A7B4B}" dt="2025-12-20T04:15:40.433" v="9142"/>
        <pc:sldMkLst>
          <pc:docMk/>
          <pc:sldMk cId="1255807013" sldId="266"/>
        </pc:sldMkLst>
        <pc:spChg chg="mod">
          <ac:chgData name="Garv ." userId="517ebc9b-5a76-4003-9b3c-a98d08664bbd" providerId="ADAL" clId="{F659861F-A15D-5394-9866-47331A7A7B4B}" dt="2025-12-20T03:04:43.672" v="6035" actId="14100"/>
          <ac:spMkLst>
            <pc:docMk/>
            <pc:sldMk cId="1255807013" sldId="266"/>
            <ac:spMk id="2" creationId="{23CCE4F5-7635-045D-5BE7-19EF8DAFEE24}"/>
          </ac:spMkLst>
        </pc:spChg>
        <pc:spChg chg="mod ord">
          <ac:chgData name="Garv ." userId="517ebc9b-5a76-4003-9b3c-a98d08664bbd" providerId="ADAL" clId="{F659861F-A15D-5394-9866-47331A7A7B4B}" dt="2025-12-20T03:04:26.185" v="6032" actId="14100"/>
          <ac:spMkLst>
            <pc:docMk/>
            <pc:sldMk cId="1255807013" sldId="266"/>
            <ac:spMk id="3" creationId="{F426986F-ABD4-D7CE-CA6C-5762DF8F7796}"/>
          </ac:spMkLst>
        </pc:spChg>
        <pc:spChg chg="add del">
          <ac:chgData name="Garv ." userId="517ebc9b-5a76-4003-9b3c-a98d08664bbd" providerId="ADAL" clId="{F659861F-A15D-5394-9866-47331A7A7B4B}" dt="2025-12-20T03:02:41.758" v="6000" actId="26606"/>
          <ac:spMkLst>
            <pc:docMk/>
            <pc:sldMk cId="1255807013" sldId="266"/>
            <ac:spMk id="7" creationId="{7A5FC171-5EF1-470A-B19B-DB937973D2A7}"/>
          </ac:spMkLst>
        </pc:spChg>
        <pc:spChg chg="add del">
          <ac:chgData name="Garv ." userId="517ebc9b-5a76-4003-9b3c-a98d08664bbd" providerId="ADAL" clId="{F659861F-A15D-5394-9866-47331A7A7B4B}" dt="2025-12-20T03:02:05.902" v="5991" actId="26606"/>
          <ac:spMkLst>
            <pc:docMk/>
            <pc:sldMk cId="1255807013" sldId="266"/>
            <ac:spMk id="10" creationId="{584FD149-94B6-4257-AB5B-C478E6038F9E}"/>
          </ac:spMkLst>
        </pc:spChg>
        <pc:spChg chg="add del">
          <ac:chgData name="Garv ." userId="517ebc9b-5a76-4003-9b3c-a98d08664bbd" providerId="ADAL" clId="{F659861F-A15D-5394-9866-47331A7A7B4B}" dt="2025-12-20T03:02:54.883" v="6003" actId="26606"/>
          <ac:spMkLst>
            <pc:docMk/>
            <pc:sldMk cId="1255807013" sldId="266"/>
            <ac:spMk id="11" creationId="{A45303F1-AF94-4311-B5EF-A9C5F6D18D94}"/>
          </ac:spMkLst>
        </pc:spChg>
        <pc:spChg chg="add del">
          <ac:chgData name="Garv ." userId="517ebc9b-5a76-4003-9b3c-a98d08664bbd" providerId="ADAL" clId="{F659861F-A15D-5394-9866-47331A7A7B4B}" dt="2025-12-20T03:02:05.902" v="5991" actId="26606"/>
          <ac:spMkLst>
            <pc:docMk/>
            <pc:sldMk cId="1255807013" sldId="266"/>
            <ac:spMk id="12" creationId="{4743F4F4-276D-4A4D-930A-0530386F9820}"/>
          </ac:spMkLst>
        </pc:spChg>
        <pc:spChg chg="add del">
          <ac:chgData name="Garv ." userId="517ebc9b-5a76-4003-9b3c-a98d08664bbd" providerId="ADAL" clId="{F659861F-A15D-5394-9866-47331A7A7B4B}" dt="2025-12-20T03:02:05.902" v="5991" actId="26606"/>
          <ac:spMkLst>
            <pc:docMk/>
            <pc:sldMk cId="1255807013" sldId="266"/>
            <ac:spMk id="14" creationId="{AA1386B8-14BD-4682-B537-BC9027D6EDCB}"/>
          </ac:spMkLst>
        </pc:spChg>
        <pc:spChg chg="add del">
          <ac:chgData name="Garv ." userId="517ebc9b-5a76-4003-9b3c-a98d08664bbd" providerId="ADAL" clId="{F659861F-A15D-5394-9866-47331A7A7B4B}" dt="2025-12-20T03:02:54.883" v="6003" actId="26606"/>
          <ac:spMkLst>
            <pc:docMk/>
            <pc:sldMk cId="1255807013" sldId="266"/>
            <ac:spMk id="25" creationId="{11310D98-E16D-4AA1-8834-28F2202C0CC3}"/>
          </ac:spMkLst>
        </pc:spChg>
        <pc:spChg chg="add del">
          <ac:chgData name="Garv ." userId="517ebc9b-5a76-4003-9b3c-a98d08664bbd" providerId="ADAL" clId="{F659861F-A15D-5394-9866-47331A7A7B4B}" dt="2025-12-20T03:02:54.883" v="6003" actId="26606"/>
          <ac:spMkLst>
            <pc:docMk/>
            <pc:sldMk cId="1255807013" sldId="266"/>
            <ac:spMk id="39" creationId="{5B65E675-687B-4B31-9CB4-880C4620538F}"/>
          </ac:spMkLst>
        </pc:spChg>
        <pc:spChg chg="add del">
          <ac:chgData name="Garv ." userId="517ebc9b-5a76-4003-9b3c-a98d08664bbd" providerId="ADAL" clId="{F659861F-A15D-5394-9866-47331A7A7B4B}" dt="2025-12-20T03:02:41.758" v="6000" actId="26606"/>
          <ac:spMkLst>
            <pc:docMk/>
            <pc:sldMk cId="1255807013" sldId="266"/>
            <ac:spMk id="40" creationId="{685D77DF-610F-4D0F-A3D2-4FBBC96640E4}"/>
          </ac:spMkLst>
        </pc:spChg>
        <pc:spChg chg="add del">
          <ac:chgData name="Garv ." userId="517ebc9b-5a76-4003-9b3c-a98d08664bbd" providerId="ADAL" clId="{F659861F-A15D-5394-9866-47331A7A7B4B}" dt="2025-12-20T03:03:12.875" v="6006" actId="26606"/>
          <ac:spMkLst>
            <pc:docMk/>
            <pc:sldMk cId="1255807013" sldId="266"/>
            <ac:spMk id="41" creationId="{584FD149-94B6-4257-AB5B-C478E6038F9E}"/>
          </ac:spMkLst>
        </pc:spChg>
        <pc:spChg chg="add del">
          <ac:chgData name="Garv ." userId="517ebc9b-5a76-4003-9b3c-a98d08664bbd" providerId="ADAL" clId="{F659861F-A15D-5394-9866-47331A7A7B4B}" dt="2025-12-20T03:02:41.758" v="6000" actId="26606"/>
          <ac:spMkLst>
            <pc:docMk/>
            <pc:sldMk cId="1255807013" sldId="266"/>
            <ac:spMk id="42" creationId="{2513384B-399F-47B1-9ABD-172607AA4E6E}"/>
          </ac:spMkLst>
        </pc:spChg>
        <pc:spChg chg="add del">
          <ac:chgData name="Garv ." userId="517ebc9b-5a76-4003-9b3c-a98d08664bbd" providerId="ADAL" clId="{F659861F-A15D-5394-9866-47331A7A7B4B}" dt="2025-12-20T03:03:12.875" v="6006" actId="26606"/>
          <ac:spMkLst>
            <pc:docMk/>
            <pc:sldMk cId="1255807013" sldId="266"/>
            <ac:spMk id="43" creationId="{4743F4F4-276D-4A4D-930A-0530386F9820}"/>
          </ac:spMkLst>
        </pc:spChg>
        <pc:spChg chg="add del">
          <ac:chgData name="Garv ." userId="517ebc9b-5a76-4003-9b3c-a98d08664bbd" providerId="ADAL" clId="{F659861F-A15D-5394-9866-47331A7A7B4B}" dt="2025-12-20T03:03:12.875" v="6006" actId="26606"/>
          <ac:spMkLst>
            <pc:docMk/>
            <pc:sldMk cId="1255807013" sldId="266"/>
            <ac:spMk id="44" creationId="{AA1386B8-14BD-4682-B537-BC9027D6EDCB}"/>
          </ac:spMkLst>
        </pc:spChg>
        <pc:spChg chg="add del">
          <ac:chgData name="Garv ." userId="517ebc9b-5a76-4003-9b3c-a98d08664bbd" providerId="ADAL" clId="{F659861F-A15D-5394-9866-47331A7A7B4B}" dt="2025-12-20T03:03:16.468" v="6009" actId="26606"/>
          <ac:spMkLst>
            <pc:docMk/>
            <pc:sldMk cId="1255807013" sldId="266"/>
            <ac:spMk id="46" creationId="{5F305C72-8769-4E0F-B31D-F4B1C9DC933F}"/>
          </ac:spMkLst>
        </pc:spChg>
        <pc:spChg chg="add del">
          <ac:chgData name="Garv ." userId="517ebc9b-5a76-4003-9b3c-a98d08664bbd" providerId="ADAL" clId="{F659861F-A15D-5394-9866-47331A7A7B4B}" dt="2025-12-20T03:03:16.468" v="6009" actId="26606"/>
          <ac:spMkLst>
            <pc:docMk/>
            <pc:sldMk cId="1255807013" sldId="266"/>
            <ac:spMk id="50" creationId="{C5E0C91A-3F1D-43D7-9AB4-5D0A17D5C46F}"/>
          </ac:spMkLst>
        </pc:spChg>
        <pc:spChg chg="add del">
          <ac:chgData name="Garv ." userId="517ebc9b-5a76-4003-9b3c-a98d08664bbd" providerId="ADAL" clId="{F659861F-A15D-5394-9866-47331A7A7B4B}" dt="2025-12-20T03:03:16.468" v="6009" actId="26606"/>
          <ac:spMkLst>
            <pc:docMk/>
            <pc:sldMk cId="1255807013" sldId="266"/>
            <ac:spMk id="51" creationId="{3A6C27A1-A438-4EC6-93BF-EC26F29BBF0E}"/>
          </ac:spMkLst>
        </pc:spChg>
        <pc:spChg chg="add del">
          <ac:chgData name="Garv ." userId="517ebc9b-5a76-4003-9b3c-a98d08664bbd" providerId="ADAL" clId="{F659861F-A15D-5394-9866-47331A7A7B4B}" dt="2025-12-20T03:03:21.887" v="6011" actId="26606"/>
          <ac:spMkLst>
            <pc:docMk/>
            <pc:sldMk cId="1255807013" sldId="266"/>
            <ac:spMk id="53" creationId="{82FDEACC-D224-4F5B-A0BE-6581493C366D}"/>
          </ac:spMkLst>
        </pc:spChg>
        <pc:spChg chg="add del">
          <ac:chgData name="Garv ." userId="517ebc9b-5a76-4003-9b3c-a98d08664bbd" providerId="ADAL" clId="{F659861F-A15D-5394-9866-47331A7A7B4B}" dt="2025-12-20T03:03:21.887" v="6011" actId="26606"/>
          <ac:spMkLst>
            <pc:docMk/>
            <pc:sldMk cId="1255807013" sldId="266"/>
            <ac:spMk id="54" creationId="{567B8489-9450-4A50-94AF-90283270FF40}"/>
          </ac:spMkLst>
        </pc:spChg>
        <pc:spChg chg="add del">
          <ac:chgData name="Garv ." userId="517ebc9b-5a76-4003-9b3c-a98d08664bbd" providerId="ADAL" clId="{F659861F-A15D-5394-9866-47331A7A7B4B}" dt="2025-12-20T03:03:21.887" v="6011" actId="26606"/>
          <ac:spMkLst>
            <pc:docMk/>
            <pc:sldMk cId="1255807013" sldId="266"/>
            <ac:spMk id="55" creationId="{9D81556A-CBCA-4ADE-9ACA-F18F2F5E3126}"/>
          </ac:spMkLst>
        </pc:spChg>
        <pc:spChg chg="add del">
          <ac:chgData name="Garv ." userId="517ebc9b-5a76-4003-9b3c-a98d08664bbd" providerId="ADAL" clId="{F659861F-A15D-5394-9866-47331A7A7B4B}" dt="2025-12-20T03:03:24.302" v="6013" actId="26606"/>
          <ac:spMkLst>
            <pc:docMk/>
            <pc:sldMk cId="1255807013" sldId="266"/>
            <ac:spMk id="57" creationId="{E9D11FD5-487C-4A6B-836F-3831DC830FB7}"/>
          </ac:spMkLst>
        </pc:spChg>
        <pc:spChg chg="add del">
          <ac:chgData name="Garv ." userId="517ebc9b-5a76-4003-9b3c-a98d08664bbd" providerId="ADAL" clId="{F659861F-A15D-5394-9866-47331A7A7B4B}" dt="2025-12-20T03:03:24.302" v="6013" actId="26606"/>
          <ac:spMkLst>
            <pc:docMk/>
            <pc:sldMk cId="1255807013" sldId="266"/>
            <ac:spMk id="58" creationId="{99765169-F70D-4841-BE65-62E10CBED84D}"/>
          </ac:spMkLst>
        </pc:spChg>
        <pc:spChg chg="add del">
          <ac:chgData name="Garv ." userId="517ebc9b-5a76-4003-9b3c-a98d08664bbd" providerId="ADAL" clId="{F659861F-A15D-5394-9866-47331A7A7B4B}" dt="2025-12-20T03:03:24.302" v="6013" actId="26606"/>
          <ac:spMkLst>
            <pc:docMk/>
            <pc:sldMk cId="1255807013" sldId="266"/>
            <ac:spMk id="59" creationId="{2A2CC818-8106-45C0-93D5-7051F99F2C81}"/>
          </ac:spMkLst>
        </pc:spChg>
        <pc:grpChg chg="add del">
          <ac:chgData name="Garv ." userId="517ebc9b-5a76-4003-9b3c-a98d08664bbd" providerId="ADAL" clId="{F659861F-A15D-5394-9866-47331A7A7B4B}" dt="2025-12-20T03:02:41.758" v="6000" actId="26606"/>
          <ac:grpSpMkLst>
            <pc:docMk/>
            <pc:sldMk cId="1255807013" sldId="266"/>
            <ac:grpSpMk id="8" creationId="{AAD68EE7-6E6F-4168-83FE-BCDDC20F569D}"/>
          </ac:grpSpMkLst>
        </pc:grpChg>
        <pc:grpChg chg="add del">
          <ac:chgData name="Garv ." userId="517ebc9b-5a76-4003-9b3c-a98d08664bbd" providerId="ADAL" clId="{F659861F-A15D-5394-9866-47331A7A7B4B}" dt="2025-12-20T03:02:41.758" v="6000" actId="26606"/>
          <ac:grpSpMkLst>
            <pc:docMk/>
            <pc:sldMk cId="1255807013" sldId="266"/>
            <ac:grpSpMk id="26" creationId="{4D8D5B2B-7539-4692-96C7-956FDD481D65}"/>
          </ac:grpSpMkLst>
        </pc:grpChg>
        <pc:grpChg chg="add del">
          <ac:chgData name="Garv ." userId="517ebc9b-5a76-4003-9b3c-a98d08664bbd" providerId="ADAL" clId="{F659861F-A15D-5394-9866-47331A7A7B4B}" dt="2025-12-20T03:03:16.468" v="6009" actId="26606"/>
          <ac:grpSpMkLst>
            <pc:docMk/>
            <pc:sldMk cId="1255807013" sldId="266"/>
            <ac:grpSpMk id="47" creationId="{72583CFC-05A3-4743-9A2E-7C2095B8D4CD}"/>
          </ac:grpSpMkLst>
        </pc:grpChg>
        <pc:grpChg chg="add del">
          <ac:chgData name="Garv ." userId="517ebc9b-5a76-4003-9b3c-a98d08664bbd" providerId="ADAL" clId="{F659861F-A15D-5394-9866-47331A7A7B4B}" dt="2025-12-20T03:03:16.468" v="6009" actId="26606"/>
          <ac:grpSpMkLst>
            <pc:docMk/>
            <pc:sldMk cId="1255807013" sldId="266"/>
            <ac:grpSpMk id="49" creationId="{506F0A57-55BB-457C-9C8C-3DEE71009ADC}"/>
          </ac:grpSpMkLst>
        </pc:grpChg>
        <pc:picChg chg="add mod ord">
          <ac:chgData name="Garv ." userId="517ebc9b-5a76-4003-9b3c-a98d08664bbd" providerId="ADAL" clId="{F659861F-A15D-5394-9866-47331A7A7B4B}" dt="2025-12-20T03:04:33.351" v="6033" actId="1076"/>
          <ac:picMkLst>
            <pc:docMk/>
            <pc:sldMk cId="1255807013" sldId="266"/>
            <ac:picMk id="5" creationId="{DA160B84-6863-97CA-B83A-4FF509D5F6E9}"/>
          </ac:picMkLst>
        </pc:picChg>
      </pc:sldChg>
      <pc:sldChg chg="addSp delSp modSp new mod modTransition">
        <pc:chgData name="Garv ." userId="517ebc9b-5a76-4003-9b3c-a98d08664bbd" providerId="ADAL" clId="{F659861F-A15D-5394-9866-47331A7A7B4B}" dt="2025-12-20T04:15:42.549" v="9143"/>
        <pc:sldMkLst>
          <pc:docMk/>
          <pc:sldMk cId="3407588130" sldId="267"/>
        </pc:sldMkLst>
        <pc:spChg chg="mod">
          <ac:chgData name="Garv ." userId="517ebc9b-5a76-4003-9b3c-a98d08664bbd" providerId="ADAL" clId="{F659861F-A15D-5394-9866-47331A7A7B4B}" dt="2025-12-20T03:54:05.928" v="7795" actId="14100"/>
          <ac:spMkLst>
            <pc:docMk/>
            <pc:sldMk cId="3407588130" sldId="267"/>
            <ac:spMk id="2" creationId="{A50738F7-9429-FF28-9009-87745E56C592}"/>
          </ac:spMkLst>
        </pc:spChg>
        <pc:spChg chg="mod">
          <ac:chgData name="Garv ." userId="517ebc9b-5a76-4003-9b3c-a98d08664bbd" providerId="ADAL" clId="{F659861F-A15D-5394-9866-47331A7A7B4B}" dt="2025-12-20T04:02:55.973" v="8185" actId="1076"/>
          <ac:spMkLst>
            <pc:docMk/>
            <pc:sldMk cId="3407588130" sldId="267"/>
            <ac:spMk id="3" creationId="{7E146425-51D5-0666-DD50-8AB3969C1D64}"/>
          </ac:spMkLst>
        </pc:spChg>
        <pc:spChg chg="add del mod">
          <ac:chgData name="Garv ." userId="517ebc9b-5a76-4003-9b3c-a98d08664bbd" providerId="ADAL" clId="{F659861F-A15D-5394-9866-47331A7A7B4B}" dt="2025-12-20T03:55:20.682" v="7800" actId="478"/>
          <ac:spMkLst>
            <pc:docMk/>
            <pc:sldMk cId="3407588130" sldId="267"/>
            <ac:spMk id="4" creationId="{FDF254D7-D630-0FC8-212B-CE6517936DCA}"/>
          </ac:spMkLst>
        </pc:spChg>
      </pc:sldChg>
      <pc:sldChg chg="modSp new mod modTransition">
        <pc:chgData name="Garv ." userId="517ebc9b-5a76-4003-9b3c-a98d08664bbd" providerId="ADAL" clId="{F659861F-A15D-5394-9866-47331A7A7B4B}" dt="2025-12-20T04:15:54.332" v="9146"/>
        <pc:sldMkLst>
          <pc:docMk/>
          <pc:sldMk cId="1416917048" sldId="268"/>
        </pc:sldMkLst>
        <pc:spChg chg="mod">
          <ac:chgData name="Garv ." userId="517ebc9b-5a76-4003-9b3c-a98d08664bbd" providerId="ADAL" clId="{F659861F-A15D-5394-9866-47331A7A7B4B}" dt="2025-12-20T04:13:32.884" v="9109" actId="14100"/>
          <ac:spMkLst>
            <pc:docMk/>
            <pc:sldMk cId="1416917048" sldId="268"/>
            <ac:spMk id="2" creationId="{2AA573C9-2329-976C-01D0-C88056B2B606}"/>
          </ac:spMkLst>
        </pc:spChg>
        <pc:spChg chg="mod">
          <ac:chgData name="Garv ." userId="517ebc9b-5a76-4003-9b3c-a98d08664bbd" providerId="ADAL" clId="{F659861F-A15D-5394-9866-47331A7A7B4B}" dt="2025-12-20T04:13:38.067" v="9110" actId="1076"/>
          <ac:spMkLst>
            <pc:docMk/>
            <pc:sldMk cId="1416917048" sldId="268"/>
            <ac:spMk id="3" creationId="{075CE00E-CF69-9BB1-AE90-85385CCDC1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BB672D-9F3E-8541-8BB8-F7B4BE0B57DD}" type="datetimeFigureOut">
              <a:rPr lang="en-US" smtClean="0"/>
              <a:t>12/19/25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07972-B102-724D-A569-81171A3FA379}" type="slidenum">
              <a:rPr lang="en-US" smtClean="0"/>
              <a:t>‹#›</a:t>
            </a:fld>
            <a:endParaRPr lang="en-US"/>
          </a:p>
        </p:txBody>
      </p:sp>
    </p:spTree>
    <p:extLst>
      <p:ext uri="{BB962C8B-B14F-4D97-AF65-F5344CB8AC3E}">
        <p14:creationId xmlns:p14="http://schemas.microsoft.com/office/powerpoint/2010/main" val="2396594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B07972-B102-724D-A569-81171A3FA379}" type="slidenum">
              <a:rPr lang="en-US" smtClean="0"/>
              <a:t>10</a:t>
            </a:fld>
            <a:endParaRPr lang="en-US"/>
          </a:p>
        </p:txBody>
      </p:sp>
    </p:spTree>
    <p:extLst>
      <p:ext uri="{BB962C8B-B14F-4D97-AF65-F5344CB8AC3E}">
        <p14:creationId xmlns:p14="http://schemas.microsoft.com/office/powerpoint/2010/main" val="3781810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38613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7005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38422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79769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12/19/25</a:t>
            </a:fld>
            <a:endParaRPr lang="en-US"/>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3375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12/19/25</a:t>
            </a:fld>
            <a:endParaRPr lang="en-US"/>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4445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12/19/25</a:t>
            </a:fld>
            <a:endParaRPr lang="en-US"/>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736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3294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49752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314744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55443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1272672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4704432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264856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703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63705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31BA835-12AC-4E8F-955A-EA3F4DE2791F}" type="datetime1">
              <a:rPr lang="en-US" smtClean="0"/>
              <a:t>12/19/25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140294658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Lst>
  <p:hf sldNum="0"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20DD8-6802-59FC-A114-E34C2B5248AF}"/>
              </a:ext>
            </a:extLst>
          </p:cNvPr>
          <p:cNvSpPr>
            <a:spLocks noGrp="1"/>
          </p:cNvSpPr>
          <p:nvPr>
            <p:ph type="ctrTitle"/>
          </p:nvPr>
        </p:nvSpPr>
        <p:spPr>
          <a:xfrm>
            <a:off x="5215085" y="2247116"/>
            <a:ext cx="6689047" cy="2363768"/>
          </a:xfrm>
        </p:spPr>
        <p:txBody>
          <a:bodyPr>
            <a:normAutofit/>
          </a:bodyPr>
          <a:lstStyle/>
          <a:p>
            <a:pPr algn="r"/>
            <a:r>
              <a:rPr lang="en-CA" sz="4800" dirty="0"/>
              <a:t>Global Banking Fraud Detection &amp; Risk Analysis</a:t>
            </a:r>
            <a:endParaRPr lang="en-US" sz="4800" dirty="0"/>
          </a:p>
        </p:txBody>
      </p:sp>
      <p:sp>
        <p:nvSpPr>
          <p:cNvPr id="3" name="Subtitle 2">
            <a:extLst>
              <a:ext uri="{FF2B5EF4-FFF2-40B4-BE49-F238E27FC236}">
                <a16:creationId xmlns:a16="http://schemas.microsoft.com/office/drawing/2014/main" id="{D6EE20E8-DF3C-6C16-A0DB-25E10F7C5D2C}"/>
              </a:ext>
            </a:extLst>
          </p:cNvPr>
          <p:cNvSpPr>
            <a:spLocks noGrp="1"/>
          </p:cNvSpPr>
          <p:nvPr>
            <p:ph type="subTitle" idx="1"/>
          </p:nvPr>
        </p:nvSpPr>
        <p:spPr>
          <a:xfrm>
            <a:off x="8153400" y="4610884"/>
            <a:ext cx="3750732" cy="215117"/>
          </a:xfrm>
        </p:spPr>
        <p:txBody>
          <a:bodyPr>
            <a:normAutofit/>
          </a:bodyPr>
          <a:lstStyle/>
          <a:p>
            <a:r>
              <a:rPr lang="en-CA" sz="800" dirty="0"/>
              <a:t>An end-to-end data analytics case study using Excel, SQL, and Power BI</a:t>
            </a:r>
            <a:endParaRPr lang="en-US" sz="800" i="1" dirty="0"/>
          </a:p>
        </p:txBody>
      </p:sp>
      <p:pic>
        <p:nvPicPr>
          <p:cNvPr id="4" name="Picture 3" descr="Triangular abstract background">
            <a:extLst>
              <a:ext uri="{FF2B5EF4-FFF2-40B4-BE49-F238E27FC236}">
                <a16:creationId xmlns:a16="http://schemas.microsoft.com/office/drawing/2014/main" id="{3F9C1799-5AF0-4294-D334-59517A4AD3C9}"/>
              </a:ext>
            </a:extLst>
          </p:cNvPr>
          <p:cNvPicPr>
            <a:picLocks noChangeAspect="1"/>
          </p:cNvPicPr>
          <p:nvPr/>
        </p:nvPicPr>
        <p:blipFill>
          <a:blip r:embed="rId2"/>
          <a:srcRect l="22886" r="29647" b="-1"/>
          <a:stretch>
            <a:fillRect/>
          </a:stretch>
        </p:blipFill>
        <p:spPr>
          <a:xfrm>
            <a:off x="1" y="10"/>
            <a:ext cx="4876799" cy="6857989"/>
          </a:xfrm>
          <a:prstGeom prst="rect">
            <a:avLst/>
          </a:prstGeom>
        </p:spPr>
      </p:pic>
      <p:sp>
        <p:nvSpPr>
          <p:cNvPr id="5" name="TextBox 4">
            <a:extLst>
              <a:ext uri="{FF2B5EF4-FFF2-40B4-BE49-F238E27FC236}">
                <a16:creationId xmlns:a16="http://schemas.microsoft.com/office/drawing/2014/main" id="{C41FC603-A676-A566-1B81-7E094E492FF4}"/>
              </a:ext>
            </a:extLst>
          </p:cNvPr>
          <p:cNvSpPr txBox="1"/>
          <p:nvPr/>
        </p:nvSpPr>
        <p:spPr>
          <a:xfrm>
            <a:off x="9829799" y="6460076"/>
            <a:ext cx="2362200" cy="397923"/>
          </a:xfrm>
          <a:prstGeom prst="rect">
            <a:avLst/>
          </a:prstGeom>
          <a:noFill/>
        </p:spPr>
        <p:txBody>
          <a:bodyPr wrap="square" rtlCol="0">
            <a:spAutoFit/>
          </a:bodyPr>
          <a:lstStyle/>
          <a:p>
            <a:pPr algn="r"/>
            <a:r>
              <a:rPr lang="en-US" sz="1000" i="1" dirty="0"/>
              <a:t>Garv Dudy</a:t>
            </a:r>
          </a:p>
          <a:p>
            <a:pPr algn="r"/>
            <a:r>
              <a:rPr lang="en-US" sz="1000" i="1" dirty="0"/>
              <a:t>Data Analyst Project | Winter 2025</a:t>
            </a:r>
          </a:p>
        </p:txBody>
      </p:sp>
    </p:spTree>
    <p:extLst>
      <p:ext uri="{BB962C8B-B14F-4D97-AF65-F5344CB8AC3E}">
        <p14:creationId xmlns:p14="http://schemas.microsoft.com/office/powerpoint/2010/main" val="29409844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2D392-50B4-BB79-4A63-CDFD50042A69}"/>
              </a:ext>
            </a:extLst>
          </p:cNvPr>
          <p:cNvSpPr>
            <a:spLocks noGrp="1"/>
          </p:cNvSpPr>
          <p:nvPr>
            <p:ph type="title"/>
          </p:nvPr>
        </p:nvSpPr>
        <p:spPr/>
        <p:txBody>
          <a:bodyPr/>
          <a:lstStyle/>
          <a:p>
            <a:r>
              <a:rPr lang="en-US" dirty="0"/>
              <a:t>Executive Summary</a:t>
            </a:r>
          </a:p>
        </p:txBody>
      </p:sp>
      <p:sp>
        <p:nvSpPr>
          <p:cNvPr id="3" name="Content Placeholder 2">
            <a:extLst>
              <a:ext uri="{FF2B5EF4-FFF2-40B4-BE49-F238E27FC236}">
                <a16:creationId xmlns:a16="http://schemas.microsoft.com/office/drawing/2014/main" id="{254225E9-BAEE-3E2A-B134-D8FFD710CB8C}"/>
              </a:ext>
            </a:extLst>
          </p:cNvPr>
          <p:cNvSpPr>
            <a:spLocks noGrp="1"/>
          </p:cNvSpPr>
          <p:nvPr>
            <p:ph idx="1"/>
          </p:nvPr>
        </p:nvSpPr>
        <p:spPr>
          <a:xfrm>
            <a:off x="2589212" y="1905000"/>
            <a:ext cx="8915400" cy="3777622"/>
          </a:xfrm>
        </p:spPr>
        <p:txBody>
          <a:bodyPr>
            <a:normAutofit/>
          </a:bodyPr>
          <a:lstStyle/>
          <a:p>
            <a:pPr marL="0" indent="0">
              <a:buNone/>
            </a:pPr>
            <a:r>
              <a:rPr lang="en-CA" dirty="0"/>
              <a:t>Modern banking systems process millions of transactions daily, making it increasingly difficult to detect fraud early without data-driven monitoring. This project analyzes a large-scale banking transaction dataset to uncover transaction behavior, risk exposure, and fraud patterns using an end-to-end analytics pipeline.</a:t>
            </a:r>
          </a:p>
          <a:p>
            <a:pPr marL="0" indent="0">
              <a:buNone/>
            </a:pPr>
            <a:r>
              <a:rPr lang="en-CA" b="1" dirty="0"/>
              <a:t>Key Highlights:</a:t>
            </a:r>
            <a:endParaRPr lang="en-US" b="1" dirty="0"/>
          </a:p>
          <a:p>
            <a:r>
              <a:rPr lang="en-US" sz="1600" dirty="0"/>
              <a:t>Analyzed 153,000 + banking Transactions</a:t>
            </a:r>
          </a:p>
          <a:p>
            <a:r>
              <a:rPr lang="en-US" sz="1600" dirty="0"/>
              <a:t>Built a full pipeline from Excel </a:t>
            </a:r>
            <a:r>
              <a:rPr lang="en-US" sz="1600" dirty="0">
                <a:sym typeface="Wingdings" pitchFamily="2" charset="2"/>
              </a:rPr>
              <a:t> SQL  Power BI</a:t>
            </a:r>
            <a:endParaRPr lang="en-US" sz="1600" dirty="0"/>
          </a:p>
          <a:p>
            <a:r>
              <a:rPr lang="en-US" sz="1600" dirty="0"/>
              <a:t>Identified fraud concentration, risk signals, and spending behavior</a:t>
            </a:r>
          </a:p>
          <a:p>
            <a:r>
              <a:rPr lang="en-US" sz="1600" dirty="0"/>
              <a:t>Delivered executive-level and analyst-level dashboards for decision making.</a:t>
            </a:r>
          </a:p>
        </p:txBody>
      </p:sp>
    </p:spTree>
    <p:extLst>
      <p:ext uri="{BB962C8B-B14F-4D97-AF65-F5344CB8AC3E}">
        <p14:creationId xmlns:p14="http://schemas.microsoft.com/office/powerpoint/2010/main" val="5653573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C1C7-D10E-EC8C-1D70-9613B312FBE0}"/>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5B8B824B-891F-A9A7-0D8B-76A11953AFD5}"/>
              </a:ext>
            </a:extLst>
          </p:cNvPr>
          <p:cNvSpPr>
            <a:spLocks noGrp="1"/>
          </p:cNvSpPr>
          <p:nvPr>
            <p:ph idx="1"/>
          </p:nvPr>
        </p:nvSpPr>
        <p:spPr>
          <a:xfrm>
            <a:off x="2589212" y="1905000"/>
            <a:ext cx="8915400" cy="3777622"/>
          </a:xfrm>
        </p:spPr>
        <p:txBody>
          <a:bodyPr>
            <a:normAutofit/>
          </a:bodyPr>
          <a:lstStyle/>
          <a:p>
            <a:pPr marL="0" indent="0">
              <a:buNone/>
            </a:pPr>
            <a:r>
              <a:rPr lang="en-US" dirty="0"/>
              <a:t>Banks face a critical challenge: high Transactions volume increases fraud risk, but manual monitoring cannot scale. Fraud often represents a small percentage of total transactions, yet even a minor increase can lead to significant financial losses and reputational damage.</a:t>
            </a:r>
          </a:p>
          <a:p>
            <a:pPr marL="0" indent="0">
              <a:buNone/>
            </a:pPr>
            <a:r>
              <a:rPr lang="en-US" b="1" dirty="0"/>
              <a:t>Key Challenges Addressed:</a:t>
            </a:r>
          </a:p>
          <a:p>
            <a:r>
              <a:rPr lang="en-US" sz="1600" dirty="0"/>
              <a:t>Detecting Fraud Hidden within large transaction volumes</a:t>
            </a:r>
          </a:p>
          <a:p>
            <a:r>
              <a:rPr lang="en-US" sz="1600" dirty="0"/>
              <a:t>Understanding risk beyond confirm fraud</a:t>
            </a:r>
          </a:p>
          <a:p>
            <a:r>
              <a:rPr lang="en-US" sz="1600" dirty="0"/>
              <a:t>Identifying high-risk merchants, regions, and channels</a:t>
            </a:r>
          </a:p>
          <a:p>
            <a:r>
              <a:rPr lang="en-US" sz="1600" dirty="0"/>
              <a:t>Supporting early intervention, not just reactive controls</a:t>
            </a:r>
          </a:p>
        </p:txBody>
      </p:sp>
    </p:spTree>
    <p:extLst>
      <p:ext uri="{BB962C8B-B14F-4D97-AF65-F5344CB8AC3E}">
        <p14:creationId xmlns:p14="http://schemas.microsoft.com/office/powerpoint/2010/main" val="1834511987"/>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1CCA4-F93D-701E-30F4-A906868D5795}"/>
              </a:ext>
            </a:extLst>
          </p:cNvPr>
          <p:cNvSpPr>
            <a:spLocks noGrp="1"/>
          </p:cNvSpPr>
          <p:nvPr>
            <p:ph type="title"/>
          </p:nvPr>
        </p:nvSpPr>
        <p:spPr/>
        <p:txBody>
          <a:bodyPr/>
          <a:lstStyle/>
          <a:p>
            <a:r>
              <a:rPr lang="en-US" dirty="0"/>
              <a:t>Project Objectives</a:t>
            </a:r>
          </a:p>
        </p:txBody>
      </p:sp>
      <p:sp>
        <p:nvSpPr>
          <p:cNvPr id="3" name="Content Placeholder 2">
            <a:extLst>
              <a:ext uri="{FF2B5EF4-FFF2-40B4-BE49-F238E27FC236}">
                <a16:creationId xmlns:a16="http://schemas.microsoft.com/office/drawing/2014/main" id="{8A92F787-5334-7611-463A-A617A56AE2E8}"/>
              </a:ext>
            </a:extLst>
          </p:cNvPr>
          <p:cNvSpPr>
            <a:spLocks noGrp="1"/>
          </p:cNvSpPr>
          <p:nvPr>
            <p:ph idx="1"/>
          </p:nvPr>
        </p:nvSpPr>
        <p:spPr>
          <a:xfrm>
            <a:off x="2589212" y="1905000"/>
            <a:ext cx="8915400" cy="3777622"/>
          </a:xfrm>
        </p:spPr>
        <p:txBody>
          <a:bodyPr/>
          <a:lstStyle/>
          <a:p>
            <a:pPr marL="0" indent="0">
              <a:buNone/>
            </a:pPr>
            <a:r>
              <a:rPr lang="en-US" dirty="0"/>
              <a:t>This project aims to move beyond simple fraud counts and instead analyze transaction behavior holistically to support smarter banking decisions.</a:t>
            </a:r>
          </a:p>
          <a:p>
            <a:pPr marL="0" indent="0">
              <a:buNone/>
            </a:pPr>
            <a:r>
              <a:rPr lang="en-US" b="1" dirty="0"/>
              <a:t>Objectives:</a:t>
            </a:r>
          </a:p>
          <a:p>
            <a:r>
              <a:rPr lang="en-US" sz="1600" dirty="0"/>
              <a:t>Analyze transaction volume and monetary flow across the system</a:t>
            </a:r>
          </a:p>
          <a:p>
            <a:r>
              <a:rPr lang="en-US" sz="1600" dirty="0"/>
              <a:t>Measure Fraud rate and transaction risk exposure</a:t>
            </a:r>
          </a:p>
          <a:p>
            <a:r>
              <a:rPr lang="en-US" sz="1600" dirty="0"/>
              <a:t>Identify high-risk merchant categories and transaction types</a:t>
            </a:r>
          </a:p>
          <a:p>
            <a:r>
              <a:rPr lang="en-US" sz="1600" dirty="0"/>
              <a:t>Build Dashboards that support executives, risk teams and analysts</a:t>
            </a:r>
          </a:p>
          <a:p>
            <a:endParaRPr lang="en-US" dirty="0"/>
          </a:p>
        </p:txBody>
      </p:sp>
    </p:spTree>
    <p:extLst>
      <p:ext uri="{BB962C8B-B14F-4D97-AF65-F5344CB8AC3E}">
        <p14:creationId xmlns:p14="http://schemas.microsoft.com/office/powerpoint/2010/main" val="410109089"/>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549F-AAE3-EC62-3059-574AEDF89C87}"/>
              </a:ext>
            </a:extLst>
          </p:cNvPr>
          <p:cNvSpPr>
            <a:spLocks noGrp="1"/>
          </p:cNvSpPr>
          <p:nvPr>
            <p:ph type="title"/>
          </p:nvPr>
        </p:nvSpPr>
        <p:spPr/>
        <p:txBody>
          <a:bodyPr/>
          <a:lstStyle/>
          <a:p>
            <a:r>
              <a:rPr lang="en-US" dirty="0"/>
              <a:t>Data Overview</a:t>
            </a:r>
          </a:p>
        </p:txBody>
      </p:sp>
      <p:sp>
        <p:nvSpPr>
          <p:cNvPr id="3" name="Content Placeholder 2">
            <a:extLst>
              <a:ext uri="{FF2B5EF4-FFF2-40B4-BE49-F238E27FC236}">
                <a16:creationId xmlns:a16="http://schemas.microsoft.com/office/drawing/2014/main" id="{EB77BDF4-9EBD-F242-4089-0354796F9762}"/>
              </a:ext>
            </a:extLst>
          </p:cNvPr>
          <p:cNvSpPr>
            <a:spLocks noGrp="1"/>
          </p:cNvSpPr>
          <p:nvPr>
            <p:ph idx="1"/>
          </p:nvPr>
        </p:nvSpPr>
        <p:spPr>
          <a:xfrm>
            <a:off x="2589212" y="1905000"/>
            <a:ext cx="8915400" cy="3777622"/>
          </a:xfrm>
        </p:spPr>
        <p:txBody>
          <a:bodyPr/>
          <a:lstStyle/>
          <a:p>
            <a:pPr marL="0" indent="0">
              <a:buNone/>
            </a:pPr>
            <a:r>
              <a:rPr lang="en-US" dirty="0"/>
              <a:t>The Dataset represents realistic banking transaction behavior over multiple years and channels, enabling deep behavioral analysis.</a:t>
            </a:r>
          </a:p>
          <a:p>
            <a:pPr marL="0" indent="0">
              <a:buNone/>
            </a:pPr>
            <a:r>
              <a:rPr lang="en-US" b="1" dirty="0"/>
              <a:t>Dataset Characteristics:</a:t>
            </a:r>
          </a:p>
          <a:p>
            <a:r>
              <a:rPr lang="en-US" sz="1600" dirty="0"/>
              <a:t>153000+ Transactions Records</a:t>
            </a:r>
          </a:p>
          <a:p>
            <a:r>
              <a:rPr lang="en-US" sz="1600" dirty="0"/>
              <a:t>Time-based data (year, quarter, month)</a:t>
            </a:r>
          </a:p>
          <a:p>
            <a:r>
              <a:rPr lang="en-US" sz="1600" dirty="0"/>
              <a:t>Merchant categories and transaction channels</a:t>
            </a:r>
          </a:p>
          <a:p>
            <a:r>
              <a:rPr lang="en-US" sz="1600" dirty="0"/>
              <a:t>Geographic indicators (countries/regions)</a:t>
            </a:r>
          </a:p>
          <a:p>
            <a:r>
              <a:rPr lang="en-US" sz="1600" dirty="0"/>
              <a:t>Risk Score and Fraud Flag indicators</a:t>
            </a:r>
          </a:p>
        </p:txBody>
      </p:sp>
    </p:spTree>
    <p:extLst>
      <p:ext uri="{BB962C8B-B14F-4D97-AF65-F5344CB8AC3E}">
        <p14:creationId xmlns:p14="http://schemas.microsoft.com/office/powerpoint/2010/main" val="3605346014"/>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80F9-273F-665B-0550-9A3B520A7BE7}"/>
              </a:ext>
            </a:extLst>
          </p:cNvPr>
          <p:cNvSpPr>
            <a:spLocks noGrp="1"/>
          </p:cNvSpPr>
          <p:nvPr>
            <p:ph type="title"/>
          </p:nvPr>
        </p:nvSpPr>
        <p:spPr/>
        <p:txBody>
          <a:bodyPr/>
          <a:lstStyle/>
          <a:p>
            <a:r>
              <a:rPr lang="en-US" dirty="0"/>
              <a:t>Methodology (end-to-end Pipeline)</a:t>
            </a:r>
          </a:p>
        </p:txBody>
      </p:sp>
      <p:sp>
        <p:nvSpPr>
          <p:cNvPr id="3" name="Content Placeholder 2">
            <a:extLst>
              <a:ext uri="{FF2B5EF4-FFF2-40B4-BE49-F238E27FC236}">
                <a16:creationId xmlns:a16="http://schemas.microsoft.com/office/drawing/2014/main" id="{16515A67-74BD-9E19-7813-B2789C4F84D5}"/>
              </a:ext>
            </a:extLst>
          </p:cNvPr>
          <p:cNvSpPr>
            <a:spLocks noGrp="1"/>
          </p:cNvSpPr>
          <p:nvPr>
            <p:ph idx="1"/>
          </p:nvPr>
        </p:nvSpPr>
        <p:spPr>
          <a:xfrm>
            <a:off x="2589212" y="1905000"/>
            <a:ext cx="8915400" cy="3777622"/>
          </a:xfrm>
        </p:spPr>
        <p:txBody>
          <a:bodyPr/>
          <a:lstStyle/>
          <a:p>
            <a:pPr marL="0" indent="0">
              <a:buNone/>
            </a:pPr>
            <a:r>
              <a:rPr lang="en-US" dirty="0"/>
              <a:t>To Ensure scalability and realism, the project follows a structured analytics pipeline like real banking environments.</a:t>
            </a:r>
          </a:p>
          <a:p>
            <a:pPr marL="0" indent="0">
              <a:buNone/>
            </a:pPr>
            <a:r>
              <a:rPr lang="en-US" b="1" dirty="0"/>
              <a:t>Workflow:</a:t>
            </a:r>
          </a:p>
          <a:p>
            <a:r>
              <a:rPr lang="en-US" sz="1600" dirty="0"/>
              <a:t>Excel: Data cleaning, formatting, and preparation</a:t>
            </a:r>
          </a:p>
          <a:p>
            <a:r>
              <a:rPr lang="en-US" sz="1600" dirty="0"/>
              <a:t>SQL: Querying, Aggregations, fraud analysis, and KPI calculations</a:t>
            </a:r>
          </a:p>
          <a:p>
            <a:r>
              <a:rPr lang="en-US" sz="1600" dirty="0"/>
              <a:t>Power BI: Interactive dashboards and storytelling visuals</a:t>
            </a:r>
          </a:p>
          <a:p>
            <a:pPr marL="0" indent="0">
              <a:buNone/>
            </a:pPr>
            <a:r>
              <a:rPr lang="en-US" sz="1600" dirty="0"/>
              <a:t>This Layered approach ensures accuracy, performance, and clarity.</a:t>
            </a:r>
          </a:p>
        </p:txBody>
      </p:sp>
    </p:spTree>
    <p:extLst>
      <p:ext uri="{BB962C8B-B14F-4D97-AF65-F5344CB8AC3E}">
        <p14:creationId xmlns:p14="http://schemas.microsoft.com/office/powerpoint/2010/main" val="161166094"/>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7AB7-6372-D093-75DC-626530ABBBB0}"/>
              </a:ext>
            </a:extLst>
          </p:cNvPr>
          <p:cNvSpPr>
            <a:spLocks noGrp="1"/>
          </p:cNvSpPr>
          <p:nvPr>
            <p:ph type="title"/>
          </p:nvPr>
        </p:nvSpPr>
        <p:spPr/>
        <p:txBody>
          <a:bodyPr/>
          <a:lstStyle/>
          <a:p>
            <a:r>
              <a:rPr lang="en-US" dirty="0"/>
              <a:t>Data Cleaning &amp; Preparation (Excel)</a:t>
            </a:r>
          </a:p>
        </p:txBody>
      </p:sp>
      <p:sp>
        <p:nvSpPr>
          <p:cNvPr id="3" name="Content Placeholder 2">
            <a:extLst>
              <a:ext uri="{FF2B5EF4-FFF2-40B4-BE49-F238E27FC236}">
                <a16:creationId xmlns:a16="http://schemas.microsoft.com/office/drawing/2014/main" id="{EF66727E-7C71-1948-AFAB-EF577B431A06}"/>
              </a:ext>
            </a:extLst>
          </p:cNvPr>
          <p:cNvSpPr>
            <a:spLocks noGrp="1"/>
          </p:cNvSpPr>
          <p:nvPr>
            <p:ph idx="1"/>
          </p:nvPr>
        </p:nvSpPr>
        <p:spPr>
          <a:xfrm>
            <a:off x="2589212" y="1905000"/>
            <a:ext cx="8915400" cy="3777622"/>
          </a:xfrm>
        </p:spPr>
        <p:txBody>
          <a:bodyPr/>
          <a:lstStyle/>
          <a:p>
            <a:pPr marL="0" indent="0">
              <a:buNone/>
            </a:pPr>
            <a:r>
              <a:rPr lang="en-US" dirty="0"/>
              <a:t>Raw Transactional data often contains inconsistencies that can distort analysis. Significant effort was invested in preparing the dataset for reliable analytics.</a:t>
            </a:r>
          </a:p>
          <a:p>
            <a:pPr marL="0" indent="0">
              <a:buNone/>
            </a:pPr>
            <a:r>
              <a:rPr lang="en-US" b="1" dirty="0"/>
              <a:t>Cleaning steps performed:</a:t>
            </a:r>
          </a:p>
          <a:p>
            <a:r>
              <a:rPr lang="en-US" sz="1600" dirty="0"/>
              <a:t>Standardized column formats and naming conventions</a:t>
            </a:r>
          </a:p>
          <a:p>
            <a:r>
              <a:rPr lang="en-US" sz="1600" dirty="0"/>
              <a:t>Handled missing and inconsistent values</a:t>
            </a:r>
          </a:p>
          <a:p>
            <a:r>
              <a:rPr lang="en-US" sz="1600" dirty="0"/>
              <a:t>Split and normalized columns for SQL compatibility</a:t>
            </a:r>
          </a:p>
          <a:p>
            <a:r>
              <a:rPr lang="en-US" sz="1600" dirty="0"/>
              <a:t>Optimized structure for Power BI modeling</a:t>
            </a:r>
          </a:p>
          <a:p>
            <a:pPr marL="0" indent="0">
              <a:buNone/>
            </a:pPr>
            <a:r>
              <a:rPr lang="en-US" b="1" dirty="0"/>
              <a:t>Result: </a:t>
            </a:r>
            <a:r>
              <a:rPr lang="en-US" dirty="0"/>
              <a:t>A clean, analysis-read dataset suitable for scalable querying and visualizations.</a:t>
            </a:r>
            <a:endParaRPr lang="en-US" b="1" dirty="0"/>
          </a:p>
        </p:txBody>
      </p:sp>
    </p:spTree>
    <p:extLst>
      <p:ext uri="{BB962C8B-B14F-4D97-AF65-F5344CB8AC3E}">
        <p14:creationId xmlns:p14="http://schemas.microsoft.com/office/powerpoint/2010/main" val="2362849659"/>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DC9E4-426C-E933-DC3E-7B1A4101A069}"/>
              </a:ext>
            </a:extLst>
          </p:cNvPr>
          <p:cNvSpPr>
            <a:spLocks noGrp="1"/>
          </p:cNvSpPr>
          <p:nvPr>
            <p:ph type="title"/>
          </p:nvPr>
        </p:nvSpPr>
        <p:spPr/>
        <p:txBody>
          <a:bodyPr/>
          <a:lstStyle/>
          <a:p>
            <a:r>
              <a:rPr lang="en-US" dirty="0"/>
              <a:t>SQL Analysis Layer</a:t>
            </a:r>
          </a:p>
        </p:txBody>
      </p:sp>
      <p:sp>
        <p:nvSpPr>
          <p:cNvPr id="3" name="Content Placeholder 2">
            <a:extLst>
              <a:ext uri="{FF2B5EF4-FFF2-40B4-BE49-F238E27FC236}">
                <a16:creationId xmlns:a16="http://schemas.microsoft.com/office/drawing/2014/main" id="{DC8C6A0F-AD84-A6BA-D0FC-41428439EEF3}"/>
              </a:ext>
            </a:extLst>
          </p:cNvPr>
          <p:cNvSpPr>
            <a:spLocks noGrp="1"/>
          </p:cNvSpPr>
          <p:nvPr>
            <p:ph idx="1"/>
          </p:nvPr>
        </p:nvSpPr>
        <p:spPr>
          <a:xfrm>
            <a:off x="2589212" y="1721155"/>
            <a:ext cx="8915400" cy="4605868"/>
          </a:xfrm>
        </p:spPr>
        <p:txBody>
          <a:bodyPr>
            <a:normAutofit/>
          </a:bodyPr>
          <a:lstStyle/>
          <a:p>
            <a:pPr marL="0" indent="0">
              <a:buNone/>
            </a:pPr>
            <a:r>
              <a:rPr lang="en-US" dirty="0"/>
              <a:t>SQL acted as the analytical engine of this project, transforming cleaned transactional data into structured insights before visualization. Rather than pushing raw data directly into Power BI, SQL was used to validate trends, calculate risk metrics, and isolate fraud behavior, ensuring analytical accuracy and scalability.</a:t>
            </a:r>
          </a:p>
          <a:p>
            <a:pPr marL="0" indent="0">
              <a:buNone/>
            </a:pPr>
            <a:r>
              <a:rPr lang="en-US" dirty="0"/>
              <a:t>Through SQL, this project replicated how banks typically analyze transaction data at the backend level before exposing results to dashboards.</a:t>
            </a:r>
          </a:p>
          <a:p>
            <a:pPr marL="0" indent="0">
              <a:buNone/>
            </a:pPr>
            <a:r>
              <a:rPr lang="en-US" b="1" dirty="0"/>
              <a:t>Key SQL analysis performed.</a:t>
            </a:r>
          </a:p>
          <a:p>
            <a:r>
              <a:rPr lang="en-US" sz="1600" dirty="0"/>
              <a:t>Aggregation Transaction volume and Total monetary flow</a:t>
            </a:r>
          </a:p>
          <a:p>
            <a:r>
              <a:rPr lang="en-US" sz="1600" dirty="0"/>
              <a:t>Calculated Fraud rate and avg risk score</a:t>
            </a:r>
          </a:p>
          <a:p>
            <a:r>
              <a:rPr lang="en-US" sz="1600" dirty="0"/>
              <a:t>Identified high-risk Merchant category and Transaction type</a:t>
            </a:r>
          </a:p>
          <a:p>
            <a:r>
              <a:rPr lang="en-US" sz="1600" dirty="0"/>
              <a:t>Time-series trend extraction</a:t>
            </a:r>
          </a:p>
          <a:p>
            <a:pPr marL="0" indent="0">
              <a:buNone/>
            </a:pPr>
            <a:r>
              <a:rPr lang="en-US" dirty="0"/>
              <a:t>This layer ensure accurate KPIs and reusable logic before visualization.</a:t>
            </a:r>
          </a:p>
          <a:p>
            <a:pPr marL="0" indent="0">
              <a:buNone/>
            </a:pPr>
            <a:endParaRPr lang="en-US" dirty="0"/>
          </a:p>
        </p:txBody>
      </p:sp>
    </p:spTree>
    <p:extLst>
      <p:ext uri="{BB962C8B-B14F-4D97-AF65-F5344CB8AC3E}">
        <p14:creationId xmlns:p14="http://schemas.microsoft.com/office/powerpoint/2010/main" val="1674953985"/>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44C42-26D3-9EE4-0E31-C9F9749B2E2C}"/>
              </a:ext>
            </a:extLst>
          </p:cNvPr>
          <p:cNvSpPr>
            <a:spLocks noGrp="1"/>
          </p:cNvSpPr>
          <p:nvPr>
            <p:ph type="title"/>
          </p:nvPr>
        </p:nvSpPr>
        <p:spPr/>
        <p:txBody>
          <a:bodyPr/>
          <a:lstStyle/>
          <a:p>
            <a:r>
              <a:rPr lang="en-US"/>
              <a:t>Key Performance Indicators (KPIs)</a:t>
            </a:r>
            <a:endParaRPr lang="en-US" dirty="0"/>
          </a:p>
        </p:txBody>
      </p:sp>
      <p:sp>
        <p:nvSpPr>
          <p:cNvPr id="3" name="Content Placeholder 2">
            <a:extLst>
              <a:ext uri="{FF2B5EF4-FFF2-40B4-BE49-F238E27FC236}">
                <a16:creationId xmlns:a16="http://schemas.microsoft.com/office/drawing/2014/main" id="{5AD7D877-273A-2C32-A25E-309BF2DD96F3}"/>
              </a:ext>
            </a:extLst>
          </p:cNvPr>
          <p:cNvSpPr>
            <a:spLocks noGrp="1"/>
          </p:cNvSpPr>
          <p:nvPr>
            <p:ph idx="1"/>
          </p:nvPr>
        </p:nvSpPr>
        <p:spPr>
          <a:xfrm>
            <a:off x="2591068" y="1905000"/>
            <a:ext cx="8915400" cy="2734733"/>
          </a:xfrm>
        </p:spPr>
        <p:txBody>
          <a:bodyPr>
            <a:noAutofit/>
          </a:bodyPr>
          <a:lstStyle/>
          <a:p>
            <a:pPr marL="0" indent="0">
              <a:lnSpc>
                <a:spcPct val="120000"/>
              </a:lnSpc>
              <a:buNone/>
            </a:pPr>
            <a:r>
              <a:rPr lang="en-US" sz="1600" dirty="0"/>
              <a:t>These KIPs act as an early-warning system for banking risk. Rather than isolating fraud alone, they measure transaction intensity, monetary exposure, and behavioral risk simultaneously, enabling precative intervention.</a:t>
            </a:r>
          </a:p>
          <a:p>
            <a:pPr marL="0" indent="0">
              <a:lnSpc>
                <a:spcPct val="120000"/>
              </a:lnSpc>
              <a:buNone/>
            </a:pPr>
            <a:r>
              <a:rPr lang="en-US" sz="1600" dirty="0"/>
              <a:t>Together,  these indicators answer four critical questions:</a:t>
            </a:r>
          </a:p>
          <a:p>
            <a:pPr>
              <a:lnSpc>
                <a:spcPct val="120000"/>
              </a:lnSpc>
              <a:buFont typeface="Wingdings" pitchFamily="2" charset="2"/>
              <a:buChar char="q"/>
            </a:pPr>
            <a:r>
              <a:rPr lang="en-US" sz="1600" dirty="0"/>
              <a:t>Total Transaction flow reflects system activity &amp; scale</a:t>
            </a:r>
          </a:p>
          <a:p>
            <a:pPr>
              <a:lnSpc>
                <a:spcPct val="120000"/>
              </a:lnSpc>
              <a:buFont typeface="Wingdings" pitchFamily="2" charset="2"/>
              <a:buChar char="q"/>
            </a:pPr>
            <a:r>
              <a:rPr lang="en-US" sz="1600" dirty="0"/>
              <a:t>Fraud rate highlights hidden risk within normal transactions</a:t>
            </a:r>
          </a:p>
          <a:p>
            <a:pPr>
              <a:lnSpc>
                <a:spcPct val="120000"/>
              </a:lnSpc>
              <a:buFont typeface="Wingdings" pitchFamily="2" charset="2"/>
              <a:buChar char="q"/>
            </a:pPr>
            <a:r>
              <a:rPr lang="en-US" sz="1600" dirty="0"/>
              <a:t>Average fraud transaction value signals financial impact severity</a:t>
            </a:r>
          </a:p>
        </p:txBody>
      </p:sp>
      <p:pic>
        <p:nvPicPr>
          <p:cNvPr id="8" name="Picture 7" descr="A price tag with black text&#10;&#10;AI-generated content may be incorrect.">
            <a:extLst>
              <a:ext uri="{FF2B5EF4-FFF2-40B4-BE49-F238E27FC236}">
                <a16:creationId xmlns:a16="http://schemas.microsoft.com/office/drawing/2014/main" id="{BA989132-4260-A351-7667-6014D216C390}"/>
              </a:ext>
            </a:extLst>
          </p:cNvPr>
          <p:cNvPicPr>
            <a:picLocks noChangeAspect="1"/>
          </p:cNvPicPr>
          <p:nvPr/>
        </p:nvPicPr>
        <p:blipFill>
          <a:blip r:embed="rId2"/>
          <a:stretch>
            <a:fillRect/>
          </a:stretch>
        </p:blipFill>
        <p:spPr>
          <a:xfrm>
            <a:off x="2591068" y="4761150"/>
            <a:ext cx="8451300" cy="1187166"/>
          </a:xfrm>
          <a:prstGeom prst="rect">
            <a:avLst/>
          </a:prstGeom>
        </p:spPr>
      </p:pic>
    </p:spTree>
    <p:extLst>
      <p:ext uri="{BB962C8B-B14F-4D97-AF65-F5344CB8AC3E}">
        <p14:creationId xmlns:p14="http://schemas.microsoft.com/office/powerpoint/2010/main" val="20803735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6E7B-97D4-2260-428B-0824607A9ADE}"/>
              </a:ext>
            </a:extLst>
          </p:cNvPr>
          <p:cNvSpPr>
            <a:spLocks noGrp="1"/>
          </p:cNvSpPr>
          <p:nvPr>
            <p:ph type="title"/>
          </p:nvPr>
        </p:nvSpPr>
        <p:spPr>
          <a:xfrm>
            <a:off x="1683956" y="759577"/>
            <a:ext cx="8357511" cy="493490"/>
          </a:xfrm>
        </p:spPr>
        <p:txBody>
          <a:bodyPr>
            <a:normAutofit/>
          </a:bodyPr>
          <a:lstStyle/>
          <a:p>
            <a:pPr>
              <a:lnSpc>
                <a:spcPct val="90000"/>
              </a:lnSpc>
            </a:pPr>
            <a:r>
              <a:rPr lang="en-US" sz="2700" dirty="0"/>
              <a:t>Global Banking Transaction Flow &amp; Risk Overview</a:t>
            </a:r>
          </a:p>
        </p:txBody>
      </p:sp>
      <p:sp>
        <p:nvSpPr>
          <p:cNvPr id="3" name="Content Placeholder 2">
            <a:extLst>
              <a:ext uri="{FF2B5EF4-FFF2-40B4-BE49-F238E27FC236}">
                <a16:creationId xmlns:a16="http://schemas.microsoft.com/office/drawing/2014/main" id="{944A0FCD-F4CC-46B4-AB90-DF08A0C554F4}"/>
              </a:ext>
            </a:extLst>
          </p:cNvPr>
          <p:cNvSpPr>
            <a:spLocks noGrp="1"/>
          </p:cNvSpPr>
          <p:nvPr>
            <p:ph idx="1"/>
          </p:nvPr>
        </p:nvSpPr>
        <p:spPr>
          <a:xfrm>
            <a:off x="1584510" y="1507049"/>
            <a:ext cx="4278201" cy="4859868"/>
          </a:xfrm>
        </p:spPr>
        <p:txBody>
          <a:bodyPr>
            <a:normAutofit/>
          </a:bodyPr>
          <a:lstStyle/>
          <a:p>
            <a:pPr marL="0" indent="0">
              <a:lnSpc>
                <a:spcPct val="90000"/>
              </a:lnSpc>
              <a:buNone/>
            </a:pPr>
            <a:r>
              <a:rPr lang="en-US" sz="1050" b="1" dirty="0">
                <a:solidFill>
                  <a:srgbClr val="000000"/>
                </a:solidFill>
              </a:rPr>
              <a:t>What this dashboard answers:</a:t>
            </a:r>
          </a:p>
          <a:p>
            <a:pPr>
              <a:lnSpc>
                <a:spcPct val="90000"/>
              </a:lnSpc>
            </a:pPr>
            <a:r>
              <a:rPr lang="en-US" sz="1050" dirty="0">
                <a:solidFill>
                  <a:srgbClr val="000000"/>
                </a:solidFill>
              </a:rPr>
              <a:t>How active is the global banking system overtime?</a:t>
            </a:r>
          </a:p>
          <a:p>
            <a:pPr lvl="1">
              <a:lnSpc>
                <a:spcPct val="90000"/>
              </a:lnSpc>
              <a:buFont typeface="Wingdings" pitchFamily="2" charset="2"/>
              <a:buChar char="q"/>
            </a:pPr>
            <a:r>
              <a:rPr lang="en-US" sz="1050" dirty="0">
                <a:solidFill>
                  <a:srgbClr val="000000"/>
                </a:solidFill>
              </a:rPr>
              <a:t>System was active with an average of 1M Transaction Each Month, except some outliers.</a:t>
            </a:r>
          </a:p>
          <a:p>
            <a:pPr>
              <a:lnSpc>
                <a:spcPct val="90000"/>
              </a:lnSpc>
            </a:pPr>
            <a:r>
              <a:rPr lang="en-US" sz="1050" dirty="0">
                <a:solidFill>
                  <a:srgbClr val="000000"/>
                </a:solidFill>
              </a:rPr>
              <a:t>Where is money concentrated geographically?</a:t>
            </a:r>
          </a:p>
          <a:p>
            <a:pPr lvl="1">
              <a:lnSpc>
                <a:spcPct val="90000"/>
              </a:lnSpc>
              <a:buFont typeface="Wingdings" pitchFamily="2" charset="2"/>
              <a:buChar char="q"/>
            </a:pPr>
            <a:r>
              <a:rPr lang="en-US" sz="1050" dirty="0">
                <a:solidFill>
                  <a:srgbClr val="000000"/>
                </a:solidFill>
              </a:rPr>
              <a:t>Most amount is transferred from unknow country with 14M+ and France holding 2</a:t>
            </a:r>
            <a:r>
              <a:rPr lang="en-US" sz="1050" baseline="30000" dirty="0">
                <a:solidFill>
                  <a:srgbClr val="000000"/>
                </a:solidFill>
              </a:rPr>
              <a:t>nd</a:t>
            </a:r>
            <a:r>
              <a:rPr lang="en-US" sz="1050" dirty="0">
                <a:solidFill>
                  <a:srgbClr val="000000"/>
                </a:solidFill>
              </a:rPr>
              <a:t> with 8.5M+, then most of the countries having 7M in avg spending. India as last in list with 6.5M Transaction</a:t>
            </a:r>
          </a:p>
          <a:p>
            <a:pPr>
              <a:lnSpc>
                <a:spcPct val="90000"/>
              </a:lnSpc>
            </a:pPr>
            <a:r>
              <a:rPr lang="en-US" sz="1050" dirty="0">
                <a:solidFill>
                  <a:srgbClr val="000000"/>
                </a:solidFill>
              </a:rPr>
              <a:t>How are customers transacting (digital vs physical)?</a:t>
            </a:r>
          </a:p>
          <a:p>
            <a:pPr lvl="1">
              <a:lnSpc>
                <a:spcPct val="90000"/>
              </a:lnSpc>
              <a:buFont typeface="Wingdings" pitchFamily="2" charset="2"/>
              <a:buChar char="q"/>
            </a:pPr>
            <a:r>
              <a:rPr lang="en-US" sz="1050" dirty="0">
                <a:solidFill>
                  <a:srgbClr val="000000"/>
                </a:solidFill>
              </a:rPr>
              <a:t>Well customers preferring Digital transactions (Mobile + POS + Online) which is 75M+ in Total more then Physical with only 50M+ Transfers (ATM + Branch Visit). </a:t>
            </a:r>
          </a:p>
          <a:p>
            <a:pPr>
              <a:lnSpc>
                <a:spcPct val="90000"/>
              </a:lnSpc>
            </a:pPr>
            <a:r>
              <a:rPr lang="en-US" sz="1050" dirty="0">
                <a:solidFill>
                  <a:srgbClr val="000000"/>
                </a:solidFill>
              </a:rPr>
              <a:t>What is the overall fraud exposure?</a:t>
            </a:r>
          </a:p>
          <a:p>
            <a:pPr lvl="1">
              <a:lnSpc>
                <a:spcPct val="90000"/>
              </a:lnSpc>
              <a:buFont typeface="Wingdings" pitchFamily="2" charset="2"/>
              <a:buChar char="q"/>
            </a:pPr>
            <a:r>
              <a:rPr lang="en-US" sz="1050" dirty="0">
                <a:solidFill>
                  <a:srgbClr val="000000"/>
                </a:solidFill>
              </a:rPr>
              <a:t>There is in total of 2K Frauds with 18.65M of Money and most important think to note is the Average spending which comes out to be $9.45K each Transaction in case of fraud, whereas the normal Avg spending is around $800</a:t>
            </a:r>
          </a:p>
          <a:p>
            <a:pPr lvl="1">
              <a:lnSpc>
                <a:spcPct val="90000"/>
              </a:lnSpc>
              <a:buFont typeface="Wingdings" pitchFamily="2" charset="2"/>
              <a:buChar char="q"/>
            </a:pPr>
            <a:r>
              <a:rPr lang="en-US" sz="1050" dirty="0">
                <a:solidFill>
                  <a:srgbClr val="000000"/>
                </a:solidFill>
              </a:rPr>
              <a:t>Canada is the 2</a:t>
            </a:r>
            <a:r>
              <a:rPr lang="en-US" sz="1050" baseline="30000" dirty="0">
                <a:solidFill>
                  <a:srgbClr val="000000"/>
                </a:solidFill>
              </a:rPr>
              <a:t>nd</a:t>
            </a:r>
            <a:r>
              <a:rPr lang="en-US" sz="1050" dirty="0">
                <a:solidFill>
                  <a:srgbClr val="000000"/>
                </a:solidFill>
              </a:rPr>
              <a:t> Know country for fraud transaction after Unknow with 1.6M+ total in money.</a:t>
            </a:r>
          </a:p>
          <a:p>
            <a:pPr>
              <a:lnSpc>
                <a:spcPct val="90000"/>
              </a:lnSpc>
            </a:pPr>
            <a:endParaRPr lang="en-US" sz="1050" dirty="0">
              <a:solidFill>
                <a:srgbClr val="000000"/>
              </a:solidFill>
            </a:endParaRPr>
          </a:p>
        </p:txBody>
      </p:sp>
      <p:pic>
        <p:nvPicPr>
          <p:cNvPr id="51" name="Picture 50" descr="A screenshot of a graph&#10;&#10;AI-generated content may be incorrect.">
            <a:extLst>
              <a:ext uri="{FF2B5EF4-FFF2-40B4-BE49-F238E27FC236}">
                <a16:creationId xmlns:a16="http://schemas.microsoft.com/office/drawing/2014/main" id="{04AF317D-BB9D-31FA-CE33-C15E49E9735A}"/>
              </a:ext>
            </a:extLst>
          </p:cNvPr>
          <p:cNvPicPr>
            <a:picLocks noChangeAspect="1"/>
          </p:cNvPicPr>
          <p:nvPr/>
        </p:nvPicPr>
        <p:blipFill>
          <a:blip r:embed="rId3"/>
          <a:stretch>
            <a:fillRect/>
          </a:stretch>
        </p:blipFill>
        <p:spPr>
          <a:xfrm>
            <a:off x="5953691" y="2226699"/>
            <a:ext cx="6081008" cy="3420567"/>
          </a:xfrm>
          <a:prstGeom prst="rect">
            <a:avLst/>
          </a:prstGeom>
        </p:spPr>
      </p:pic>
    </p:spTree>
    <p:extLst>
      <p:ext uri="{BB962C8B-B14F-4D97-AF65-F5344CB8AC3E}">
        <p14:creationId xmlns:p14="http://schemas.microsoft.com/office/powerpoint/2010/main" val="35728188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CE4F5-7635-045D-5BE7-19EF8DAFEE24}"/>
              </a:ext>
            </a:extLst>
          </p:cNvPr>
          <p:cNvSpPr>
            <a:spLocks noGrp="1"/>
          </p:cNvSpPr>
          <p:nvPr>
            <p:ph type="title"/>
          </p:nvPr>
        </p:nvSpPr>
        <p:spPr>
          <a:xfrm>
            <a:off x="1683956" y="677273"/>
            <a:ext cx="8487689" cy="962743"/>
          </a:xfrm>
        </p:spPr>
        <p:txBody>
          <a:bodyPr>
            <a:normAutofit/>
          </a:bodyPr>
          <a:lstStyle/>
          <a:p>
            <a:pPr>
              <a:lnSpc>
                <a:spcPct val="90000"/>
              </a:lnSpc>
            </a:pPr>
            <a:r>
              <a:rPr lang="en-US" sz="2700" dirty="0"/>
              <a:t>Transaction Behavior, Merchant Exposure &amp; Fraud Risk Signals</a:t>
            </a:r>
          </a:p>
        </p:txBody>
      </p:sp>
      <p:sp>
        <p:nvSpPr>
          <p:cNvPr id="3" name="Content Placeholder 2">
            <a:extLst>
              <a:ext uri="{FF2B5EF4-FFF2-40B4-BE49-F238E27FC236}">
                <a16:creationId xmlns:a16="http://schemas.microsoft.com/office/drawing/2014/main" id="{F426986F-ABD4-D7CE-CA6C-5762DF8F7796}"/>
              </a:ext>
            </a:extLst>
          </p:cNvPr>
          <p:cNvSpPr>
            <a:spLocks noGrp="1"/>
          </p:cNvSpPr>
          <p:nvPr>
            <p:ph idx="1"/>
          </p:nvPr>
        </p:nvSpPr>
        <p:spPr>
          <a:xfrm>
            <a:off x="1683956" y="1640016"/>
            <a:ext cx="4140772" cy="4888375"/>
          </a:xfrm>
        </p:spPr>
        <p:txBody>
          <a:bodyPr>
            <a:normAutofit/>
          </a:bodyPr>
          <a:lstStyle/>
          <a:p>
            <a:pPr marL="0" indent="0">
              <a:lnSpc>
                <a:spcPct val="90000"/>
              </a:lnSpc>
              <a:buNone/>
            </a:pPr>
            <a:r>
              <a:rPr lang="en-US" sz="1000" b="1" dirty="0">
                <a:solidFill>
                  <a:srgbClr val="000000"/>
                </a:solidFill>
              </a:rPr>
              <a:t>What this dashboard reveals:</a:t>
            </a:r>
          </a:p>
          <a:p>
            <a:pPr>
              <a:lnSpc>
                <a:spcPct val="90000"/>
              </a:lnSpc>
            </a:pPr>
            <a:r>
              <a:rPr lang="en-US" sz="1000" dirty="0">
                <a:solidFill>
                  <a:srgbClr val="000000"/>
                </a:solidFill>
              </a:rPr>
              <a:t>While merchant categories dominate spending</a:t>
            </a:r>
          </a:p>
          <a:p>
            <a:pPr lvl="1">
              <a:lnSpc>
                <a:spcPct val="90000"/>
              </a:lnSpc>
              <a:buFont typeface="Wingdings" pitchFamily="2" charset="2"/>
              <a:buChar char="q"/>
            </a:pPr>
            <a:r>
              <a:rPr lang="en-US" sz="1000" dirty="0">
                <a:solidFill>
                  <a:srgbClr val="000000"/>
                </a:solidFill>
              </a:rPr>
              <a:t>Money spent on electronics is the highest among all with 9.1M+, Healthcare has a total of 9.0M+ spend. One major think to notice is they all have similar spending amount.</a:t>
            </a:r>
          </a:p>
          <a:p>
            <a:pPr>
              <a:lnSpc>
                <a:spcPct val="90000"/>
              </a:lnSpc>
            </a:pPr>
            <a:r>
              <a:rPr lang="en-US" sz="1000" dirty="0">
                <a:solidFill>
                  <a:srgbClr val="000000"/>
                </a:solidFill>
              </a:rPr>
              <a:t>Where fraud rates vary significantly by category</a:t>
            </a:r>
          </a:p>
          <a:p>
            <a:pPr lvl="1">
              <a:lnSpc>
                <a:spcPct val="90000"/>
              </a:lnSpc>
              <a:buFont typeface="Wingdings" pitchFamily="2" charset="2"/>
              <a:buChar char="q"/>
            </a:pPr>
            <a:r>
              <a:rPr lang="en-US" sz="1000" dirty="0">
                <a:solidFill>
                  <a:srgbClr val="000000"/>
                </a:solidFill>
              </a:rPr>
              <a:t>Approx 1.65M+ was detected as fraud in restaurants, Education holds a total of 1.55M+ in fraud whereas Online Retail is the lest spent in fraud.</a:t>
            </a:r>
          </a:p>
          <a:p>
            <a:pPr lvl="1">
              <a:lnSpc>
                <a:spcPct val="90000"/>
              </a:lnSpc>
              <a:buFont typeface="Wingdings" pitchFamily="2" charset="2"/>
              <a:buChar char="q"/>
            </a:pPr>
            <a:r>
              <a:rPr lang="en-US" sz="1000" dirty="0">
                <a:solidFill>
                  <a:srgbClr val="000000"/>
                </a:solidFill>
              </a:rPr>
              <a:t>Transaction detected as fraud in Entertainment, Healthcare and ATM withdrawal are nearly equivalent to each other.</a:t>
            </a:r>
          </a:p>
          <a:p>
            <a:pPr>
              <a:lnSpc>
                <a:spcPct val="90000"/>
              </a:lnSpc>
            </a:pPr>
            <a:r>
              <a:rPr lang="en-US" sz="1000" dirty="0">
                <a:solidFill>
                  <a:srgbClr val="000000"/>
                </a:solidFill>
              </a:rPr>
              <a:t>How refunds and reversals differ in risk behavior</a:t>
            </a:r>
          </a:p>
          <a:p>
            <a:pPr lvl="1">
              <a:lnSpc>
                <a:spcPct val="90000"/>
              </a:lnSpc>
              <a:buFont typeface="Wingdings" pitchFamily="2" charset="2"/>
              <a:buChar char="q"/>
            </a:pPr>
            <a:r>
              <a:rPr lang="en-US" sz="1000" dirty="0">
                <a:solidFill>
                  <a:srgbClr val="000000"/>
                </a:solidFill>
              </a:rPr>
              <a:t>In total There was 2% of Refund/Reversal which makes 3.07K in numbers. Whereas confirmed purchase was 150.41K in total.</a:t>
            </a:r>
          </a:p>
          <a:p>
            <a:pPr lvl="1">
              <a:lnSpc>
                <a:spcPct val="90000"/>
              </a:lnSpc>
              <a:buFont typeface="Wingdings" pitchFamily="2" charset="2"/>
              <a:buChar char="q"/>
            </a:pPr>
            <a:r>
              <a:rPr lang="en-US" sz="1000" dirty="0">
                <a:solidFill>
                  <a:srgbClr val="000000"/>
                </a:solidFill>
              </a:rPr>
              <a:t>For Fraud Refund there was only 0.05K whereas for Fraud purchase it’s 1.93K</a:t>
            </a:r>
          </a:p>
          <a:p>
            <a:pPr>
              <a:lnSpc>
                <a:spcPct val="90000"/>
              </a:lnSpc>
            </a:pPr>
            <a:r>
              <a:rPr lang="en-US" sz="1000" dirty="0">
                <a:solidFill>
                  <a:srgbClr val="000000"/>
                </a:solidFill>
              </a:rPr>
              <a:t>Whether fraud is concentrated or distributed across transaction types</a:t>
            </a:r>
          </a:p>
          <a:p>
            <a:pPr lvl="1">
              <a:lnSpc>
                <a:spcPct val="90000"/>
              </a:lnSpc>
              <a:buFont typeface="Wingdings" pitchFamily="2" charset="2"/>
              <a:buChar char="q"/>
            </a:pPr>
            <a:r>
              <a:rPr lang="en-US" sz="1000" dirty="0">
                <a:solidFill>
                  <a:srgbClr val="000000"/>
                </a:solidFill>
              </a:rPr>
              <a:t>In shot all Transaction Type Faced fraud equally, but zooming in gives us that credit was used slightly more with </a:t>
            </a:r>
            <a:r>
              <a:rPr lang="en-US" sz="1000" dirty="0" err="1">
                <a:solidFill>
                  <a:srgbClr val="000000"/>
                </a:solidFill>
              </a:rPr>
              <a:t>approx</a:t>
            </a:r>
            <a:r>
              <a:rPr lang="en-US" sz="1000" dirty="0">
                <a:solidFill>
                  <a:srgbClr val="000000"/>
                </a:solidFill>
              </a:rPr>
              <a:t> 0.11% in frauds then any other means.</a:t>
            </a:r>
          </a:p>
        </p:txBody>
      </p:sp>
      <p:pic>
        <p:nvPicPr>
          <p:cNvPr id="5" name="Picture 4" descr="A screenshot of a graph&#10;&#10;AI-generated content may be incorrect.">
            <a:extLst>
              <a:ext uri="{FF2B5EF4-FFF2-40B4-BE49-F238E27FC236}">
                <a16:creationId xmlns:a16="http://schemas.microsoft.com/office/drawing/2014/main" id="{DA160B84-6863-97CA-B83A-4FF509D5F6E9}"/>
              </a:ext>
            </a:extLst>
          </p:cNvPr>
          <p:cNvPicPr>
            <a:picLocks noChangeAspect="1"/>
          </p:cNvPicPr>
          <p:nvPr/>
        </p:nvPicPr>
        <p:blipFill>
          <a:blip r:embed="rId2"/>
          <a:stretch>
            <a:fillRect/>
          </a:stretch>
        </p:blipFill>
        <p:spPr>
          <a:xfrm>
            <a:off x="5927800" y="2352397"/>
            <a:ext cx="6157533" cy="3463612"/>
          </a:xfrm>
          <a:prstGeom prst="rect">
            <a:avLst/>
          </a:prstGeom>
        </p:spPr>
      </p:pic>
    </p:spTree>
    <p:extLst>
      <p:ext uri="{BB962C8B-B14F-4D97-AF65-F5344CB8AC3E}">
        <p14:creationId xmlns:p14="http://schemas.microsoft.com/office/powerpoint/2010/main" val="12558070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38F7-9429-FF28-9009-87745E56C592}"/>
              </a:ext>
            </a:extLst>
          </p:cNvPr>
          <p:cNvSpPr>
            <a:spLocks noGrp="1"/>
          </p:cNvSpPr>
          <p:nvPr>
            <p:ph type="title"/>
          </p:nvPr>
        </p:nvSpPr>
        <p:spPr>
          <a:xfrm>
            <a:off x="1703925" y="733761"/>
            <a:ext cx="9903875" cy="629234"/>
          </a:xfrm>
        </p:spPr>
        <p:txBody>
          <a:bodyPr>
            <a:normAutofit/>
          </a:bodyPr>
          <a:lstStyle/>
          <a:p>
            <a:r>
              <a:rPr lang="en-US" sz="3400" dirty="0"/>
              <a:t>Key Findings and Strategic Recommendations</a:t>
            </a:r>
          </a:p>
        </p:txBody>
      </p:sp>
      <p:sp>
        <p:nvSpPr>
          <p:cNvPr id="3" name="Content Placeholder 2">
            <a:extLst>
              <a:ext uri="{FF2B5EF4-FFF2-40B4-BE49-F238E27FC236}">
                <a16:creationId xmlns:a16="http://schemas.microsoft.com/office/drawing/2014/main" id="{7E146425-51D5-0666-DD50-8AB3969C1D64}"/>
              </a:ext>
            </a:extLst>
          </p:cNvPr>
          <p:cNvSpPr>
            <a:spLocks noGrp="1"/>
          </p:cNvSpPr>
          <p:nvPr>
            <p:ph idx="1"/>
          </p:nvPr>
        </p:nvSpPr>
        <p:spPr>
          <a:xfrm>
            <a:off x="2058199" y="1514044"/>
            <a:ext cx="9195326" cy="5064556"/>
          </a:xfrm>
        </p:spPr>
        <p:txBody>
          <a:bodyPr>
            <a:normAutofit lnSpcReduction="10000"/>
          </a:bodyPr>
          <a:lstStyle/>
          <a:p>
            <a:pPr marL="0" indent="0">
              <a:buNone/>
            </a:pPr>
            <a:r>
              <a:rPr lang="en-US" sz="1400" b="1" dirty="0"/>
              <a:t>Key Findings:</a:t>
            </a:r>
          </a:p>
          <a:p>
            <a:pPr marL="0" indent="0">
              <a:buNone/>
            </a:pPr>
            <a:r>
              <a:rPr lang="en-US" sz="1400" dirty="0"/>
              <a:t>The analysis reveals that banking fraud is not driven by transaction volume alone but emerges from behavioral patterns across merchant categories, transaction intent, and refund activity. While the overall fraud rate remains low, its financial impact and distribution highlight the need for proactive risk monitoring rather than reactive controls.</a:t>
            </a:r>
          </a:p>
          <a:p>
            <a:r>
              <a:rPr lang="en-US" sz="1400" dirty="0"/>
              <a:t>However, Fraud Rate remains low overall (~1.29%) but is persistent and makes a total of 18.65M in Transaction Amount.</a:t>
            </a:r>
          </a:p>
          <a:p>
            <a:r>
              <a:rPr lang="en-US" sz="1400" dirty="0"/>
              <a:t>Risk is destituted across all transaction types</a:t>
            </a:r>
          </a:p>
          <a:p>
            <a:r>
              <a:rPr lang="en-US" sz="1400" dirty="0"/>
              <a:t>Certain merchant categories exhibit elevated fraud rates</a:t>
            </a:r>
          </a:p>
          <a:p>
            <a:r>
              <a:rPr lang="en-US" sz="1400" dirty="0"/>
              <a:t>Refund transactions show higher relative risk despite low volume</a:t>
            </a:r>
          </a:p>
          <a:p>
            <a:r>
              <a:rPr lang="en-US" sz="1400" dirty="0"/>
              <a:t>High Transaction Value does not always correlate with fraud</a:t>
            </a:r>
          </a:p>
          <a:p>
            <a:pPr marL="0" indent="0">
              <a:buNone/>
            </a:pPr>
            <a:endParaRPr lang="en-US" sz="1400" dirty="0"/>
          </a:p>
          <a:p>
            <a:pPr marL="0" indent="0">
              <a:buNone/>
            </a:pPr>
            <a:r>
              <a:rPr lang="en-US" sz="1400" b="1" dirty="0"/>
              <a:t>Strategic Recommendations:</a:t>
            </a:r>
          </a:p>
          <a:p>
            <a:r>
              <a:rPr lang="en-US" sz="1400" dirty="0"/>
              <a:t>Implement behavior-based risk scoring, not value-based flags</a:t>
            </a:r>
          </a:p>
          <a:p>
            <a:r>
              <a:rPr lang="en-US" sz="1400" dirty="0"/>
              <a:t>Increase monitoring on refund and reversal patterns</a:t>
            </a:r>
          </a:p>
          <a:p>
            <a:r>
              <a:rPr lang="en-US" sz="1400" dirty="0"/>
              <a:t>Prioritize merchant category risk profiling</a:t>
            </a:r>
          </a:p>
          <a:p>
            <a:r>
              <a:rPr lang="en-US" sz="1400" dirty="0"/>
              <a:t>Shift fraud detection from reactive alerts </a:t>
            </a:r>
            <a:r>
              <a:rPr lang="en-US" sz="1400" dirty="0">
                <a:sym typeface="Wingdings" pitchFamily="2" charset="2"/>
              </a:rPr>
              <a:t> predictive signals</a:t>
            </a:r>
            <a:endParaRPr lang="en-US" sz="1400" dirty="0"/>
          </a:p>
        </p:txBody>
      </p:sp>
    </p:spTree>
    <p:extLst>
      <p:ext uri="{BB962C8B-B14F-4D97-AF65-F5344CB8AC3E}">
        <p14:creationId xmlns:p14="http://schemas.microsoft.com/office/powerpoint/2010/main" val="34075881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73C9-2329-976C-01D0-C88056B2B606}"/>
              </a:ext>
            </a:extLst>
          </p:cNvPr>
          <p:cNvSpPr>
            <a:spLocks noGrp="1"/>
          </p:cNvSpPr>
          <p:nvPr>
            <p:ph type="title"/>
          </p:nvPr>
        </p:nvSpPr>
        <p:spPr>
          <a:xfrm>
            <a:off x="2592926" y="624109"/>
            <a:ext cx="3012007" cy="772891"/>
          </a:xfrm>
        </p:spPr>
        <p:txBody>
          <a:bodyPr>
            <a:normAutofit/>
          </a:bodyPr>
          <a:lstStyle/>
          <a:p>
            <a:r>
              <a:rPr lang="en-US" sz="4000" dirty="0"/>
              <a:t>Conclusion</a:t>
            </a:r>
          </a:p>
        </p:txBody>
      </p:sp>
      <p:sp>
        <p:nvSpPr>
          <p:cNvPr id="3" name="Content Placeholder 2">
            <a:extLst>
              <a:ext uri="{FF2B5EF4-FFF2-40B4-BE49-F238E27FC236}">
                <a16:creationId xmlns:a16="http://schemas.microsoft.com/office/drawing/2014/main" id="{075CE00E-CF69-9BB1-AE90-85385CCDC1FF}"/>
              </a:ext>
            </a:extLst>
          </p:cNvPr>
          <p:cNvSpPr>
            <a:spLocks noGrp="1"/>
          </p:cNvSpPr>
          <p:nvPr>
            <p:ph idx="1"/>
          </p:nvPr>
        </p:nvSpPr>
        <p:spPr>
          <a:xfrm>
            <a:off x="2592926" y="1752601"/>
            <a:ext cx="9091612" cy="4481290"/>
          </a:xfrm>
        </p:spPr>
        <p:txBody>
          <a:bodyPr>
            <a:noAutofit/>
          </a:bodyPr>
          <a:lstStyle/>
          <a:p>
            <a:pPr marL="0" indent="0">
              <a:buNone/>
            </a:pPr>
            <a:r>
              <a:rPr lang="en-US" dirty="0"/>
              <a:t>This project demonstrates how an end-to-end analytics pipeline can convert large-scale transactional data into </a:t>
            </a:r>
            <a:r>
              <a:rPr lang="en-US" b="1" dirty="0"/>
              <a:t>actionable banking intelligence</a:t>
            </a:r>
            <a:r>
              <a:rPr lang="en-US" dirty="0"/>
              <a:t>. By integrating Excel, SQL, and Power BI, the analysis moves from raw data to executive insight in a structured, scalable way.</a:t>
            </a:r>
          </a:p>
          <a:p>
            <a:pPr marL="0" indent="0">
              <a:buNone/>
            </a:pPr>
            <a:r>
              <a:rPr lang="en-US" sz="1600" b="1" dirty="0"/>
              <a:t>Final Outcomes achieved:</a:t>
            </a:r>
          </a:p>
          <a:p>
            <a:r>
              <a:rPr lang="en-US" sz="1400" dirty="0"/>
              <a:t>Studied and analyze the data using analytical thinking.</a:t>
            </a:r>
          </a:p>
          <a:p>
            <a:r>
              <a:rPr lang="en-US" sz="1400" dirty="0"/>
              <a:t>Cleaned Data with best practice in Excel</a:t>
            </a:r>
          </a:p>
          <a:p>
            <a:r>
              <a:rPr lang="en-US" sz="1400" dirty="0"/>
              <a:t>Using SQL queried the data  before moving to visualize it</a:t>
            </a:r>
          </a:p>
          <a:p>
            <a:r>
              <a:rPr lang="en-US" sz="1400" dirty="0"/>
              <a:t>Created pipelines between three top software</a:t>
            </a:r>
          </a:p>
          <a:p>
            <a:r>
              <a:rPr lang="en-US" sz="1400" dirty="0"/>
              <a:t>Built a realistic banking analytics pipeline</a:t>
            </a:r>
          </a:p>
          <a:p>
            <a:r>
              <a:rPr lang="en-US" sz="1400" dirty="0"/>
              <a:t>Delivered executive and analyst-focused dashboards</a:t>
            </a:r>
          </a:p>
          <a:p>
            <a:r>
              <a:rPr lang="en-US" sz="1400" dirty="0"/>
              <a:t>Identified fraud patterns and behavioral risk signals</a:t>
            </a:r>
          </a:p>
          <a:p>
            <a:r>
              <a:rPr lang="en-US" sz="1400" dirty="0"/>
              <a:t>Created a framework applicable to real world banks</a:t>
            </a:r>
          </a:p>
        </p:txBody>
      </p:sp>
    </p:spTree>
    <p:extLst>
      <p:ext uri="{BB962C8B-B14F-4D97-AF65-F5344CB8AC3E}">
        <p14:creationId xmlns:p14="http://schemas.microsoft.com/office/powerpoint/2010/main" val="1416917048"/>
      </p:ext>
    </p:extLst>
  </p:cSld>
  <p:clrMapOvr>
    <a:masterClrMapping/>
  </p:clrMapOvr>
  <p:transition spd="slow">
    <p:push dir="u"/>
  </p:transition>
</p:sld>
</file>

<file path=ppt/theme/theme1.xml><?xml version="1.0" encoding="utf-8"?>
<a:theme xmlns:a="http://schemas.openxmlformats.org/drawingml/2006/main" name="Wisp">
  <a:themeElements>
    <a:clrScheme name="Red forr Bank-Project">
      <a:dk1>
        <a:srgbClr val="000000"/>
      </a:dk1>
      <a:lt1>
        <a:srgbClr val="FFFFFF"/>
      </a:lt1>
      <a:dk2>
        <a:srgbClr val="5E5E5E"/>
      </a:dk2>
      <a:lt2>
        <a:srgbClr val="DDDDDD"/>
      </a:lt2>
      <a:accent1>
        <a:srgbClr val="BF0000"/>
      </a:accent1>
      <a:accent2>
        <a:srgbClr val="C70000"/>
      </a:accent2>
      <a:accent3>
        <a:srgbClr val="FD0000"/>
      </a:accent3>
      <a:accent4>
        <a:srgbClr val="8E2B54"/>
      </a:accent4>
      <a:accent5>
        <a:srgbClr val="FF0008"/>
      </a:accent5>
      <a:accent6>
        <a:srgbClr val="E11D7A"/>
      </a:accent6>
      <a:hlink>
        <a:srgbClr val="FB5562"/>
      </a:hlink>
      <a:folHlink>
        <a:srgbClr val="C20843"/>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517</TotalTime>
  <Words>1270</Words>
  <Application>Microsoft Macintosh PowerPoint</Application>
  <PresentationFormat>Widescreen</PresentationFormat>
  <Paragraphs>112</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Century Gothic</vt:lpstr>
      <vt:lpstr>Wingdings</vt:lpstr>
      <vt:lpstr>Wingdings 3</vt:lpstr>
      <vt:lpstr>Wisp</vt:lpstr>
      <vt:lpstr>Global Banking Fraud Detection &amp; Risk Analysis</vt:lpstr>
      <vt:lpstr>Executive Summary</vt:lpstr>
      <vt:lpstr>Business Problem</vt:lpstr>
      <vt:lpstr>Project Objectives</vt:lpstr>
      <vt:lpstr>Data Overview</vt:lpstr>
      <vt:lpstr>Methodology (end-to-end Pipeline)</vt:lpstr>
      <vt:lpstr>Data Cleaning &amp; Preparation (Excel)</vt:lpstr>
      <vt:lpstr>SQL Analysis Layer</vt:lpstr>
      <vt:lpstr>Key Performance Indicators (KPIs)</vt:lpstr>
      <vt:lpstr>Global Banking Transaction Flow &amp; Risk Overview</vt:lpstr>
      <vt:lpstr>Transaction Behavior, Merchant Exposure &amp; Fraud Risk Signals</vt:lpstr>
      <vt:lpstr>Key Findings and Strategic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Garv .</dc:creator>
  <cp:lastModifiedBy>Garv .</cp:lastModifiedBy>
  <cp:revision>1</cp:revision>
  <dcterms:created xsi:type="dcterms:W3CDTF">2025-12-19T19:15:17Z</dcterms:created>
  <dcterms:modified xsi:type="dcterms:W3CDTF">2025-12-20T04:15:55Z</dcterms:modified>
</cp:coreProperties>
</file>