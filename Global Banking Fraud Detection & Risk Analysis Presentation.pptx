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1"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7DD1D84-42FB-8245-BC58-A583FDB82811}" v="14" dt="2025-12-19T22:22:17.75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159"/>
    <p:restoredTop sz="94598"/>
  </p:normalViewPr>
  <p:slideViewPr>
    <p:cSldViewPr snapToGrid="0">
      <p:cViewPr varScale="1">
        <p:scale>
          <a:sx n="151" d="100"/>
          <a:sy n="151" d="100"/>
        </p:scale>
        <p:origin x="816"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arv ." userId="517ebc9b-5a76-4003-9b3c-a98d08664bbd" providerId="ADAL" clId="{F659861F-A15D-5394-9866-47331A7A7B4B}"/>
    <pc:docChg chg="undo redo custSel addSld modSld">
      <pc:chgData name="Garv ." userId="517ebc9b-5a76-4003-9b3c-a98d08664bbd" providerId="ADAL" clId="{F659861F-A15D-5394-9866-47331A7A7B4B}" dt="2025-12-19T22:23:16.878" v="1688" actId="20577"/>
      <pc:docMkLst>
        <pc:docMk/>
      </pc:docMkLst>
      <pc:sldChg chg="modSp mod">
        <pc:chgData name="Garv ." userId="517ebc9b-5a76-4003-9b3c-a98d08664bbd" providerId="ADAL" clId="{F659861F-A15D-5394-9866-47331A7A7B4B}" dt="2025-12-19T21:01:55.431" v="521" actId="20577"/>
        <pc:sldMkLst>
          <pc:docMk/>
          <pc:sldMk cId="161166094" sldId="261"/>
        </pc:sldMkLst>
        <pc:spChg chg="mod">
          <ac:chgData name="Garv ." userId="517ebc9b-5a76-4003-9b3c-a98d08664bbd" providerId="ADAL" clId="{F659861F-A15D-5394-9866-47331A7A7B4B}" dt="2025-12-19T21:01:55.431" v="521" actId="20577"/>
          <ac:spMkLst>
            <pc:docMk/>
            <pc:sldMk cId="161166094" sldId="261"/>
            <ac:spMk id="3" creationId="{16515A67-74BD-9E19-7813-B2789C4F84D5}"/>
          </ac:spMkLst>
        </pc:spChg>
      </pc:sldChg>
      <pc:sldChg chg="modSp mod">
        <pc:chgData name="Garv ." userId="517ebc9b-5a76-4003-9b3c-a98d08664bbd" providerId="ADAL" clId="{F659861F-A15D-5394-9866-47331A7A7B4B}" dt="2025-12-19T21:02:09.785" v="541" actId="313"/>
        <pc:sldMkLst>
          <pc:docMk/>
          <pc:sldMk cId="2362849659" sldId="262"/>
        </pc:sldMkLst>
        <pc:spChg chg="mod">
          <ac:chgData name="Garv ." userId="517ebc9b-5a76-4003-9b3c-a98d08664bbd" providerId="ADAL" clId="{F659861F-A15D-5394-9866-47331A7A7B4B}" dt="2025-12-19T20:54:06.277" v="36" actId="313"/>
          <ac:spMkLst>
            <pc:docMk/>
            <pc:sldMk cId="2362849659" sldId="262"/>
            <ac:spMk id="2" creationId="{DB3A7AB7-6372-D093-75DC-626530ABBBB0}"/>
          </ac:spMkLst>
        </pc:spChg>
        <pc:spChg chg="mod">
          <ac:chgData name="Garv ." userId="517ebc9b-5a76-4003-9b3c-a98d08664bbd" providerId="ADAL" clId="{F659861F-A15D-5394-9866-47331A7A7B4B}" dt="2025-12-19T21:02:09.785" v="541" actId="313"/>
          <ac:spMkLst>
            <pc:docMk/>
            <pc:sldMk cId="2362849659" sldId="262"/>
            <ac:spMk id="3" creationId="{EF66727E-7C71-1948-AFAB-EF577B431A06}"/>
          </ac:spMkLst>
        </pc:spChg>
      </pc:sldChg>
      <pc:sldChg chg="addSp modSp new mod">
        <pc:chgData name="Garv ." userId="517ebc9b-5a76-4003-9b3c-a98d08664bbd" providerId="ADAL" clId="{F659861F-A15D-5394-9866-47331A7A7B4B}" dt="2025-12-19T22:23:16.878" v="1688" actId="20577"/>
        <pc:sldMkLst>
          <pc:docMk/>
          <pc:sldMk cId="1674953985" sldId="263"/>
        </pc:sldMkLst>
        <pc:spChg chg="mod">
          <ac:chgData name="Garv ." userId="517ebc9b-5a76-4003-9b3c-a98d08664bbd" providerId="ADAL" clId="{F659861F-A15D-5394-9866-47331A7A7B4B}" dt="2025-12-19T21:44:06.463" v="561" actId="20577"/>
          <ac:spMkLst>
            <pc:docMk/>
            <pc:sldMk cId="1674953985" sldId="263"/>
            <ac:spMk id="2" creationId="{5FFDC9E4-426C-E933-DC3E-7B1A4101A069}"/>
          </ac:spMkLst>
        </pc:spChg>
        <pc:spChg chg="mod">
          <ac:chgData name="Garv ." userId="517ebc9b-5a76-4003-9b3c-a98d08664bbd" providerId="ADAL" clId="{F659861F-A15D-5394-9866-47331A7A7B4B}" dt="2025-12-19T22:23:16.878" v="1688" actId="20577"/>
          <ac:spMkLst>
            <pc:docMk/>
            <pc:sldMk cId="1674953985" sldId="263"/>
            <ac:spMk id="3" creationId="{DC8C6A0F-AD84-A6BA-D0FC-41428439EEF3}"/>
          </ac:spMkLst>
        </pc:spChg>
        <pc:spChg chg="add">
          <ac:chgData name="Garv ." userId="517ebc9b-5a76-4003-9b3c-a98d08664bbd" providerId="ADAL" clId="{F659861F-A15D-5394-9866-47331A7A7B4B}" dt="2025-12-19T22:18:59.189" v="1073"/>
          <ac:spMkLst>
            <pc:docMk/>
            <pc:sldMk cId="1674953985" sldId="263"/>
            <ac:spMk id="4" creationId="{1E2767CC-7FFE-D84C-C577-686191F0CD2A}"/>
          </ac:spMkLst>
        </pc:spChg>
      </pc:sldChg>
      <pc:sldChg chg="addSp delSp modSp new mod">
        <pc:chgData name="Garv ." userId="517ebc9b-5a76-4003-9b3c-a98d08664bbd" providerId="ADAL" clId="{F659861F-A15D-5394-9866-47331A7A7B4B}" dt="2025-12-19T22:04:43.873" v="1072" actId="20577"/>
        <pc:sldMkLst>
          <pc:docMk/>
          <pc:sldMk cId="2080373582" sldId="264"/>
        </pc:sldMkLst>
        <pc:spChg chg="mod">
          <ac:chgData name="Garv ." userId="517ebc9b-5a76-4003-9b3c-a98d08664bbd" providerId="ADAL" clId="{F659861F-A15D-5394-9866-47331A7A7B4B}" dt="2025-12-19T22:04:32.044" v="1046" actId="313"/>
          <ac:spMkLst>
            <pc:docMk/>
            <pc:sldMk cId="2080373582" sldId="264"/>
            <ac:spMk id="2" creationId="{62044C42-26D3-9EE4-0E31-C9F9749B2E2C}"/>
          </ac:spMkLst>
        </pc:spChg>
        <pc:spChg chg="add del mod">
          <ac:chgData name="Garv ." userId="517ebc9b-5a76-4003-9b3c-a98d08664bbd" providerId="ADAL" clId="{F659861F-A15D-5394-9866-47331A7A7B4B}" dt="2025-12-19T22:04:43.873" v="1072" actId="20577"/>
          <ac:spMkLst>
            <pc:docMk/>
            <pc:sldMk cId="2080373582" sldId="264"/>
            <ac:spMk id="3" creationId="{5AD7D877-273A-2C32-A25E-309BF2DD96F3}"/>
          </ac:spMkLst>
        </pc:spChg>
        <pc:spChg chg="add mod">
          <ac:chgData name="Garv ." userId="517ebc9b-5a76-4003-9b3c-a98d08664bbd" providerId="ADAL" clId="{F659861F-A15D-5394-9866-47331A7A7B4B}" dt="2025-12-19T22:04:28.544" v="1036" actId="767"/>
          <ac:spMkLst>
            <pc:docMk/>
            <pc:sldMk cId="2080373582" sldId="264"/>
            <ac:spMk id="6" creationId="{A6B74219-8F43-0C6D-A8D5-DDE68951EA2B}"/>
          </ac:spMkLst>
        </pc:spChg>
        <pc:picChg chg="add mod">
          <ac:chgData name="Garv ." userId="517ebc9b-5a76-4003-9b3c-a98d08664bbd" providerId="ADAL" clId="{F659861F-A15D-5394-9866-47331A7A7B4B}" dt="2025-12-19T22:04:30.234" v="1044" actId="931"/>
          <ac:picMkLst>
            <pc:docMk/>
            <pc:sldMk cId="2080373582" sldId="264"/>
            <ac:picMk id="5" creationId="{618F1A1A-ACD6-1737-63EE-99219D3BF37B}"/>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1D1EADE-8E88-4C7C-8AC5-FB148DE4940E}" type="datetime1">
              <a:rPr lang="en-US" smtClean="0"/>
              <a:t>12/19/25</a:t>
            </a:fld>
            <a:endParaRPr lang="en-US"/>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lstStyle/>
          <a:p>
            <a:endParaRPr lang="en-US"/>
          </a:p>
        </p:txBody>
      </p:sp>
      <p:sp>
        <p:nvSpPr>
          <p:cNvPr id="6" name="Slide Number Placeholder 5"/>
          <p:cNvSpPr>
            <a:spLocks noGrp="1"/>
          </p:cNvSpPr>
          <p:nvPr>
            <p:ph type="sldNum" sz="quarter" idx="12"/>
          </p:nvPr>
        </p:nvSpPr>
        <p:spPr>
          <a:xfrm>
            <a:off x="531812" y="4529540"/>
            <a:ext cx="779767" cy="365125"/>
          </a:xfrm>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8386139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57B6794-849E-4626-908B-D15793550EFB}" type="datetime1">
              <a:rPr lang="en-US" smtClean="0"/>
              <a:t>12/19/25</a:t>
            </a:fld>
            <a:endParaRPr lang="en-US"/>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7770059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DB64E7-5594-42A3-ADBF-E95A7ACEAD64}" type="datetime1">
              <a:rPr lang="en-US" smtClean="0"/>
              <a:t>12/19/25</a:t>
            </a:fld>
            <a:endParaRPr lang="en-US"/>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8384222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8462B0B-D248-4FFB-8695-AD7FA4B1284A}" type="datetime1">
              <a:rPr lang="en-US" smtClean="0"/>
              <a:t>12/19/25</a:t>
            </a:fld>
            <a:endParaRPr lang="en-US"/>
          </a:p>
        </p:txBody>
      </p:sp>
      <p:sp>
        <p:nvSpPr>
          <p:cNvPr id="6" name="Footer Placeholder 5"/>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5797693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0378EFB-9159-4510-B73F-4F0409ADE937}" type="datetime1">
              <a:rPr lang="en-US" smtClean="0"/>
              <a:t>12/19/25</a:t>
            </a:fld>
            <a:endParaRPr lang="en-US"/>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6337570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9BC9412-2452-4BED-A324-9D8C115361AD}" type="datetime1">
              <a:rPr lang="en-US" smtClean="0"/>
              <a:t>12/19/25</a:t>
            </a:fld>
            <a:endParaRPr lang="en-US"/>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444522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5318F62-D251-40E8-A23C-F4CFE9FEAB41}" type="datetime1">
              <a:rPr lang="en-US" smtClean="0"/>
              <a:t>12/19/25</a:t>
            </a:fld>
            <a:endParaRPr lang="en-US"/>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7207369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4F76144-149E-4874-93A5-554A0357CF82}" type="datetime1">
              <a:rPr lang="en-US" smtClean="0"/>
              <a:t>12/19/25</a:t>
            </a:fld>
            <a:endParaRPr lang="en-US"/>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1632943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0BA65D8-0540-4835-AE5C-25D29DBA01BE}" type="datetime1">
              <a:rPr lang="en-US" smtClean="0"/>
              <a:t>12/19/25</a:t>
            </a:fld>
            <a:endParaRPr lang="en-US"/>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1497522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31BA835-12AC-4E8F-955A-EA3F4DE2791F}" type="datetime1">
              <a:rPr lang="en-US" smtClean="0"/>
              <a:t>12/19/25</a:t>
            </a:fld>
            <a:endParaRPr lang="en-US"/>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431474451"/>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31BA835-12AC-4E8F-955A-EA3F4DE2791F}" type="datetime1">
              <a:rPr lang="en-US" smtClean="0"/>
              <a:t>12/19/25</a:t>
            </a:fld>
            <a:endParaRPr lang="en-US"/>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87E7843D-FF13-4365-9478-9625B70A2705}"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25544353"/>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E31BA835-12AC-4E8F-955A-EA3F4DE2791F}" type="datetime1">
              <a:rPr lang="en-US" smtClean="0"/>
              <a:t>12/19/25</a:t>
            </a:fld>
            <a:endParaRPr lang="en-US"/>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812726724"/>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E31BA835-12AC-4E8F-955A-EA3F4DE2791F}" type="datetime1">
              <a:rPr lang="en-US" smtClean="0"/>
              <a:t>12/19/25</a:t>
            </a:fld>
            <a:endParaRPr lang="en-US"/>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87E7843D-FF13-4365-9478-9625B70A2705}"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747044325"/>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E31BA835-12AC-4E8F-955A-EA3F4DE2791F}" type="datetime1">
              <a:rPr lang="en-US" smtClean="0"/>
              <a:t>12/19/25</a:t>
            </a:fld>
            <a:endParaRPr lang="en-US"/>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72648563"/>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C3C8B9C-477D-492A-96AD-1FC2CC997A73}" type="datetime1">
              <a:rPr lang="en-US" smtClean="0"/>
              <a:t>12/19/25</a:t>
            </a:fld>
            <a:endParaRPr lang="en-US"/>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177038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2D3AED5-E26D-4E29-B1B3-7847B6779594}" type="datetime1">
              <a:rPr lang="en-US" smtClean="0"/>
              <a:t>12/19/25</a:t>
            </a:fld>
            <a:endParaRPr lang="en-US"/>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7637058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US"/>
            </a:p>
          </p:txBody>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US"/>
            </a:p>
          </p:txBody>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US"/>
            </a:p>
          </p:txBody>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US"/>
            </a:p>
          </p:txBody>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US"/>
            </a:p>
          </p:txBody>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US"/>
            </a:p>
          </p:txBody>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US"/>
            </a:p>
          </p:txBody>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US"/>
            </a:p>
          </p:txBody>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US"/>
            </a:p>
          </p:txBody>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US"/>
            </a:p>
          </p:txBody>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US"/>
            </a:p>
          </p:txBody>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US"/>
            </a:p>
          </p:txBody>
        </p:sp>
      </p:grpSp>
      <p:grpSp>
        <p:nvGrpSpPr>
          <p:cNvPr id="10" name="Group 9"/>
          <p:cNvGrpSpPr/>
          <p:nvPr/>
        </p:nvGrpSpPr>
        <p:grpSpPr>
          <a:xfrm>
            <a:off x="27221" y="157"/>
            <a:ext cx="2356674" cy="6853096"/>
            <a:chOff x="6627813" y="195610"/>
            <a:chExt cx="1952625" cy="5678141"/>
          </a:xfrm>
        </p:grpSpPr>
        <p:sp>
          <p:nvSpPr>
            <p:cNvPr id="11" name="Freeform 27"/>
            <p:cNvSpPr/>
            <p:nvPr/>
          </p:nvSpPr>
          <p:spPr bwMode="auto">
            <a:xfrm>
              <a:off x="6627813" y="195610"/>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US"/>
            </a:p>
          </p:txBody>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US"/>
            </a:p>
          </p:txBody>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US"/>
            </a:p>
          </p:txBody>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US"/>
            </a:p>
          </p:txBody>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US"/>
            </a:p>
          </p:txBody>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US"/>
            </a:p>
          </p:txBody>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US"/>
            </a:p>
          </p:txBody>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US"/>
            </a:p>
          </p:txBody>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US"/>
            </a:p>
          </p:txBody>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US"/>
            </a:p>
          </p:txBody>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US"/>
            </a:p>
          </p:txBody>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US"/>
            </a:p>
          </p:txBody>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E31BA835-12AC-4E8F-955A-EA3F4DE2791F}" type="datetime1">
              <a:rPr lang="en-US" smtClean="0"/>
              <a:t>12/19/25</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87E7843D-FF13-4365-9478-9625B70A2705}" type="slidenum">
              <a:rPr lang="en-US" smtClean="0"/>
              <a:t>‹#›</a:t>
            </a:fld>
            <a:endParaRPr lang="en-US"/>
          </a:p>
        </p:txBody>
      </p:sp>
    </p:spTree>
    <p:extLst>
      <p:ext uri="{BB962C8B-B14F-4D97-AF65-F5344CB8AC3E}">
        <p14:creationId xmlns:p14="http://schemas.microsoft.com/office/powerpoint/2010/main" val="1402946588"/>
      </p:ext>
    </p:extLst>
  </p:cSld>
  <p:clrMap bg1="lt1" tx1="dk1" bg2="lt2" tx2="dk2" accent1="accent1" accent2="accent2" accent3="accent3" accent4="accent4" accent5="accent5" accent6="accent6" hlink="hlink" folHlink="folHlink"/>
  <p:sldLayoutIdLst>
    <p:sldLayoutId id="2147483692" r:id="rId1"/>
    <p:sldLayoutId id="2147483693" r:id="rId2"/>
    <p:sldLayoutId id="2147483694" r:id="rId3"/>
    <p:sldLayoutId id="2147483695" r:id="rId4"/>
    <p:sldLayoutId id="2147483696" r:id="rId5"/>
    <p:sldLayoutId id="2147483697" r:id="rId6"/>
    <p:sldLayoutId id="2147483698" r:id="rId7"/>
    <p:sldLayoutId id="2147483699" r:id="rId8"/>
    <p:sldLayoutId id="2147483700" r:id="rId9"/>
    <p:sldLayoutId id="2147483701" r:id="rId10"/>
    <p:sldLayoutId id="2147483702" r:id="rId11"/>
    <p:sldLayoutId id="2147483703" r:id="rId12"/>
    <p:sldLayoutId id="2147483704" r:id="rId13"/>
    <p:sldLayoutId id="2147483705" r:id="rId14"/>
    <p:sldLayoutId id="2147483706" r:id="rId15"/>
    <p:sldLayoutId id="2147483707" r:id="rId16"/>
  </p:sldLayoutIdLst>
  <p:hf sldNum="0" hdr="0" ftr="0" dt="0"/>
  <p:txStyles>
    <p:title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D20DD8-6802-59FC-A114-E34C2B5248AF}"/>
              </a:ext>
            </a:extLst>
          </p:cNvPr>
          <p:cNvSpPr>
            <a:spLocks noGrp="1"/>
          </p:cNvSpPr>
          <p:nvPr>
            <p:ph type="ctrTitle"/>
          </p:nvPr>
        </p:nvSpPr>
        <p:spPr>
          <a:xfrm>
            <a:off x="5215085" y="2247116"/>
            <a:ext cx="6689047" cy="2363768"/>
          </a:xfrm>
        </p:spPr>
        <p:txBody>
          <a:bodyPr>
            <a:normAutofit/>
          </a:bodyPr>
          <a:lstStyle/>
          <a:p>
            <a:pPr algn="r"/>
            <a:r>
              <a:rPr lang="en-CA" sz="4800" dirty="0"/>
              <a:t>Global Banking Fraud Detection &amp; Risk Analysis</a:t>
            </a:r>
            <a:endParaRPr lang="en-US" sz="4800" dirty="0"/>
          </a:p>
        </p:txBody>
      </p:sp>
      <p:sp>
        <p:nvSpPr>
          <p:cNvPr id="3" name="Subtitle 2">
            <a:extLst>
              <a:ext uri="{FF2B5EF4-FFF2-40B4-BE49-F238E27FC236}">
                <a16:creationId xmlns:a16="http://schemas.microsoft.com/office/drawing/2014/main" id="{D6EE20E8-DF3C-6C16-A0DB-25E10F7C5D2C}"/>
              </a:ext>
            </a:extLst>
          </p:cNvPr>
          <p:cNvSpPr>
            <a:spLocks noGrp="1"/>
          </p:cNvSpPr>
          <p:nvPr>
            <p:ph type="subTitle" idx="1"/>
          </p:nvPr>
        </p:nvSpPr>
        <p:spPr>
          <a:xfrm>
            <a:off x="8153400" y="4610884"/>
            <a:ext cx="3750732" cy="215117"/>
          </a:xfrm>
        </p:spPr>
        <p:txBody>
          <a:bodyPr>
            <a:normAutofit/>
          </a:bodyPr>
          <a:lstStyle/>
          <a:p>
            <a:r>
              <a:rPr lang="en-CA" sz="800" dirty="0"/>
              <a:t>An end-to-end data analytics case study using Excel, SQL, and Power BI</a:t>
            </a:r>
            <a:endParaRPr lang="en-US" sz="800" i="1" dirty="0"/>
          </a:p>
        </p:txBody>
      </p:sp>
      <p:pic>
        <p:nvPicPr>
          <p:cNvPr id="4" name="Picture 3" descr="Triangular abstract background">
            <a:extLst>
              <a:ext uri="{FF2B5EF4-FFF2-40B4-BE49-F238E27FC236}">
                <a16:creationId xmlns:a16="http://schemas.microsoft.com/office/drawing/2014/main" id="{3F9C1799-5AF0-4294-D334-59517A4AD3C9}"/>
              </a:ext>
            </a:extLst>
          </p:cNvPr>
          <p:cNvPicPr>
            <a:picLocks noChangeAspect="1"/>
          </p:cNvPicPr>
          <p:nvPr/>
        </p:nvPicPr>
        <p:blipFill>
          <a:blip r:embed="rId2"/>
          <a:srcRect l="22886" r="29647" b="-1"/>
          <a:stretch>
            <a:fillRect/>
          </a:stretch>
        </p:blipFill>
        <p:spPr>
          <a:xfrm>
            <a:off x="1" y="10"/>
            <a:ext cx="4876799" cy="6857989"/>
          </a:xfrm>
          <a:prstGeom prst="rect">
            <a:avLst/>
          </a:prstGeom>
        </p:spPr>
      </p:pic>
      <p:sp>
        <p:nvSpPr>
          <p:cNvPr id="5" name="TextBox 4">
            <a:extLst>
              <a:ext uri="{FF2B5EF4-FFF2-40B4-BE49-F238E27FC236}">
                <a16:creationId xmlns:a16="http://schemas.microsoft.com/office/drawing/2014/main" id="{C41FC603-A676-A566-1B81-7E094E492FF4}"/>
              </a:ext>
            </a:extLst>
          </p:cNvPr>
          <p:cNvSpPr txBox="1"/>
          <p:nvPr/>
        </p:nvSpPr>
        <p:spPr>
          <a:xfrm>
            <a:off x="9829799" y="6460076"/>
            <a:ext cx="2362200" cy="397923"/>
          </a:xfrm>
          <a:prstGeom prst="rect">
            <a:avLst/>
          </a:prstGeom>
          <a:noFill/>
        </p:spPr>
        <p:txBody>
          <a:bodyPr wrap="square" rtlCol="0">
            <a:spAutoFit/>
          </a:bodyPr>
          <a:lstStyle/>
          <a:p>
            <a:pPr algn="r"/>
            <a:r>
              <a:rPr lang="en-US" sz="1000" i="1" dirty="0"/>
              <a:t>Garv Dudy</a:t>
            </a:r>
          </a:p>
          <a:p>
            <a:pPr algn="r"/>
            <a:r>
              <a:rPr lang="en-US" sz="1000" i="1" dirty="0"/>
              <a:t>Data Analyst Project | Winter 2025</a:t>
            </a:r>
          </a:p>
        </p:txBody>
      </p:sp>
    </p:spTree>
    <p:extLst>
      <p:ext uri="{BB962C8B-B14F-4D97-AF65-F5344CB8AC3E}">
        <p14:creationId xmlns:p14="http://schemas.microsoft.com/office/powerpoint/2010/main" val="2940984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22D392-50B4-BB79-4A63-CDFD50042A69}"/>
              </a:ext>
            </a:extLst>
          </p:cNvPr>
          <p:cNvSpPr>
            <a:spLocks noGrp="1"/>
          </p:cNvSpPr>
          <p:nvPr>
            <p:ph type="title"/>
          </p:nvPr>
        </p:nvSpPr>
        <p:spPr/>
        <p:txBody>
          <a:bodyPr/>
          <a:lstStyle/>
          <a:p>
            <a:r>
              <a:rPr lang="en-US" dirty="0"/>
              <a:t>Executive Summary</a:t>
            </a:r>
          </a:p>
        </p:txBody>
      </p:sp>
      <p:sp>
        <p:nvSpPr>
          <p:cNvPr id="3" name="Content Placeholder 2">
            <a:extLst>
              <a:ext uri="{FF2B5EF4-FFF2-40B4-BE49-F238E27FC236}">
                <a16:creationId xmlns:a16="http://schemas.microsoft.com/office/drawing/2014/main" id="{254225E9-BAEE-3E2A-B134-D8FFD710CB8C}"/>
              </a:ext>
            </a:extLst>
          </p:cNvPr>
          <p:cNvSpPr>
            <a:spLocks noGrp="1"/>
          </p:cNvSpPr>
          <p:nvPr>
            <p:ph idx="1"/>
          </p:nvPr>
        </p:nvSpPr>
        <p:spPr>
          <a:xfrm>
            <a:off x="2589212" y="1905000"/>
            <a:ext cx="8915400" cy="3777622"/>
          </a:xfrm>
        </p:spPr>
        <p:txBody>
          <a:bodyPr>
            <a:normAutofit/>
          </a:bodyPr>
          <a:lstStyle/>
          <a:p>
            <a:pPr marL="0" indent="0">
              <a:buNone/>
            </a:pPr>
            <a:r>
              <a:rPr lang="en-CA" dirty="0"/>
              <a:t>Modern banking systems process millions of transactions daily, making it increasingly difficult to detect fraud early without data-driven monitoring. This project analyzes a large-scale banking transaction dataset to uncover transaction behavior, risk exposure, and fraud patterns using an end-to-end analytics pipeline.</a:t>
            </a:r>
          </a:p>
          <a:p>
            <a:pPr marL="0" indent="0">
              <a:buNone/>
            </a:pPr>
            <a:r>
              <a:rPr lang="en-CA" b="1" dirty="0"/>
              <a:t>Key Highlights:</a:t>
            </a:r>
            <a:endParaRPr lang="en-US" b="1" dirty="0"/>
          </a:p>
          <a:p>
            <a:r>
              <a:rPr lang="en-US" sz="1600" dirty="0"/>
              <a:t>Analyzed 153,000 + banking Transactions</a:t>
            </a:r>
          </a:p>
          <a:p>
            <a:r>
              <a:rPr lang="en-US" sz="1600" dirty="0"/>
              <a:t>Built a full pipeline from Excel </a:t>
            </a:r>
            <a:r>
              <a:rPr lang="en-US" sz="1600" dirty="0">
                <a:sym typeface="Wingdings" pitchFamily="2" charset="2"/>
              </a:rPr>
              <a:t> SQL  Power BI</a:t>
            </a:r>
            <a:endParaRPr lang="en-US" sz="1600" dirty="0"/>
          </a:p>
          <a:p>
            <a:r>
              <a:rPr lang="en-US" sz="1600" dirty="0"/>
              <a:t>Identified fraud concentration, risk signals, and spending behavior</a:t>
            </a:r>
          </a:p>
          <a:p>
            <a:r>
              <a:rPr lang="en-US" sz="1600" dirty="0"/>
              <a:t>Delivered executive-level and analyst-level dashboards for decision making.</a:t>
            </a:r>
          </a:p>
        </p:txBody>
      </p:sp>
    </p:spTree>
    <p:extLst>
      <p:ext uri="{BB962C8B-B14F-4D97-AF65-F5344CB8AC3E}">
        <p14:creationId xmlns:p14="http://schemas.microsoft.com/office/powerpoint/2010/main" val="565357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4FC1C7-D10E-EC8C-1D70-9613B312FBE0}"/>
              </a:ext>
            </a:extLst>
          </p:cNvPr>
          <p:cNvSpPr>
            <a:spLocks noGrp="1"/>
          </p:cNvSpPr>
          <p:nvPr>
            <p:ph type="title"/>
          </p:nvPr>
        </p:nvSpPr>
        <p:spPr/>
        <p:txBody>
          <a:bodyPr/>
          <a:lstStyle/>
          <a:p>
            <a:r>
              <a:rPr lang="en-US" dirty="0"/>
              <a:t>Business Problem</a:t>
            </a:r>
          </a:p>
        </p:txBody>
      </p:sp>
      <p:sp>
        <p:nvSpPr>
          <p:cNvPr id="3" name="Content Placeholder 2">
            <a:extLst>
              <a:ext uri="{FF2B5EF4-FFF2-40B4-BE49-F238E27FC236}">
                <a16:creationId xmlns:a16="http://schemas.microsoft.com/office/drawing/2014/main" id="{5B8B824B-891F-A9A7-0D8B-76A11953AFD5}"/>
              </a:ext>
            </a:extLst>
          </p:cNvPr>
          <p:cNvSpPr>
            <a:spLocks noGrp="1"/>
          </p:cNvSpPr>
          <p:nvPr>
            <p:ph idx="1"/>
          </p:nvPr>
        </p:nvSpPr>
        <p:spPr>
          <a:xfrm>
            <a:off x="2589212" y="1905000"/>
            <a:ext cx="8915400" cy="3777622"/>
          </a:xfrm>
        </p:spPr>
        <p:txBody>
          <a:bodyPr>
            <a:normAutofit/>
          </a:bodyPr>
          <a:lstStyle/>
          <a:p>
            <a:pPr marL="0" indent="0">
              <a:buNone/>
            </a:pPr>
            <a:r>
              <a:rPr lang="en-US" dirty="0"/>
              <a:t>Banks face a critical challenge: high Transactions volume increases fraud risk, but manual monitoring cannot scale. Fraud often represents a small percentage of total transactions, yet even a minor increase can lead to significant financial losses and reputational damage.</a:t>
            </a:r>
          </a:p>
          <a:p>
            <a:pPr marL="0" indent="0">
              <a:buNone/>
            </a:pPr>
            <a:r>
              <a:rPr lang="en-US" b="1" dirty="0"/>
              <a:t>Key Challenges Addressed:</a:t>
            </a:r>
          </a:p>
          <a:p>
            <a:r>
              <a:rPr lang="en-US" sz="1600" dirty="0"/>
              <a:t>Detecting Fraud Hidden within large transaction volumes</a:t>
            </a:r>
          </a:p>
          <a:p>
            <a:r>
              <a:rPr lang="en-US" sz="1600" dirty="0"/>
              <a:t>Understanding risk beyond confirm fraud</a:t>
            </a:r>
          </a:p>
          <a:p>
            <a:r>
              <a:rPr lang="en-US" sz="1600" dirty="0"/>
              <a:t>Identifying high-risk merchants, regions, and channels</a:t>
            </a:r>
          </a:p>
          <a:p>
            <a:r>
              <a:rPr lang="en-US" sz="1600" dirty="0"/>
              <a:t>Supporting early intervention, not just reactive controls</a:t>
            </a:r>
          </a:p>
        </p:txBody>
      </p:sp>
    </p:spTree>
    <p:extLst>
      <p:ext uri="{BB962C8B-B14F-4D97-AF65-F5344CB8AC3E}">
        <p14:creationId xmlns:p14="http://schemas.microsoft.com/office/powerpoint/2010/main" val="18345119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81CCA4-F93D-701E-30F4-A906868D5795}"/>
              </a:ext>
            </a:extLst>
          </p:cNvPr>
          <p:cNvSpPr>
            <a:spLocks noGrp="1"/>
          </p:cNvSpPr>
          <p:nvPr>
            <p:ph type="title"/>
          </p:nvPr>
        </p:nvSpPr>
        <p:spPr/>
        <p:txBody>
          <a:bodyPr/>
          <a:lstStyle/>
          <a:p>
            <a:r>
              <a:rPr lang="en-US" dirty="0"/>
              <a:t>Project Objectives</a:t>
            </a:r>
          </a:p>
        </p:txBody>
      </p:sp>
      <p:sp>
        <p:nvSpPr>
          <p:cNvPr id="3" name="Content Placeholder 2">
            <a:extLst>
              <a:ext uri="{FF2B5EF4-FFF2-40B4-BE49-F238E27FC236}">
                <a16:creationId xmlns:a16="http://schemas.microsoft.com/office/drawing/2014/main" id="{8A92F787-5334-7611-463A-A617A56AE2E8}"/>
              </a:ext>
            </a:extLst>
          </p:cNvPr>
          <p:cNvSpPr>
            <a:spLocks noGrp="1"/>
          </p:cNvSpPr>
          <p:nvPr>
            <p:ph idx="1"/>
          </p:nvPr>
        </p:nvSpPr>
        <p:spPr>
          <a:xfrm>
            <a:off x="2589212" y="1905000"/>
            <a:ext cx="8915400" cy="3777622"/>
          </a:xfrm>
        </p:spPr>
        <p:txBody>
          <a:bodyPr/>
          <a:lstStyle/>
          <a:p>
            <a:pPr marL="0" indent="0">
              <a:buNone/>
            </a:pPr>
            <a:r>
              <a:rPr lang="en-US" dirty="0"/>
              <a:t>This project aims to move beyond simple fraud counts and instead analyze transaction behavior holistically to support smarter banking decisions.</a:t>
            </a:r>
          </a:p>
          <a:p>
            <a:pPr marL="0" indent="0">
              <a:buNone/>
            </a:pPr>
            <a:r>
              <a:rPr lang="en-US" b="1" dirty="0"/>
              <a:t>Objectives:</a:t>
            </a:r>
          </a:p>
          <a:p>
            <a:r>
              <a:rPr lang="en-US" sz="1600" dirty="0"/>
              <a:t>Analyze transaction volume and monetary flow across the system</a:t>
            </a:r>
          </a:p>
          <a:p>
            <a:r>
              <a:rPr lang="en-US" sz="1600" dirty="0"/>
              <a:t>Measure Fraud rate and transaction risk exposure</a:t>
            </a:r>
          </a:p>
          <a:p>
            <a:r>
              <a:rPr lang="en-US" sz="1600" dirty="0"/>
              <a:t>Identify high-risk merchant categories and transaction types</a:t>
            </a:r>
          </a:p>
          <a:p>
            <a:r>
              <a:rPr lang="en-US" sz="1600" dirty="0"/>
              <a:t>Build Dashboards that support executives, risk teams and analysts</a:t>
            </a:r>
          </a:p>
          <a:p>
            <a:endParaRPr lang="en-US" dirty="0"/>
          </a:p>
        </p:txBody>
      </p:sp>
    </p:spTree>
    <p:extLst>
      <p:ext uri="{BB962C8B-B14F-4D97-AF65-F5344CB8AC3E}">
        <p14:creationId xmlns:p14="http://schemas.microsoft.com/office/powerpoint/2010/main" val="4101090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E2549F-AAE3-EC62-3059-574AEDF89C87}"/>
              </a:ext>
            </a:extLst>
          </p:cNvPr>
          <p:cNvSpPr>
            <a:spLocks noGrp="1"/>
          </p:cNvSpPr>
          <p:nvPr>
            <p:ph type="title"/>
          </p:nvPr>
        </p:nvSpPr>
        <p:spPr/>
        <p:txBody>
          <a:bodyPr/>
          <a:lstStyle/>
          <a:p>
            <a:r>
              <a:rPr lang="en-US" dirty="0"/>
              <a:t>Data Overview</a:t>
            </a:r>
          </a:p>
        </p:txBody>
      </p:sp>
      <p:sp>
        <p:nvSpPr>
          <p:cNvPr id="3" name="Content Placeholder 2">
            <a:extLst>
              <a:ext uri="{FF2B5EF4-FFF2-40B4-BE49-F238E27FC236}">
                <a16:creationId xmlns:a16="http://schemas.microsoft.com/office/drawing/2014/main" id="{EB77BDF4-9EBD-F242-4089-0354796F9762}"/>
              </a:ext>
            </a:extLst>
          </p:cNvPr>
          <p:cNvSpPr>
            <a:spLocks noGrp="1"/>
          </p:cNvSpPr>
          <p:nvPr>
            <p:ph idx="1"/>
          </p:nvPr>
        </p:nvSpPr>
        <p:spPr>
          <a:xfrm>
            <a:off x="2589212" y="1905000"/>
            <a:ext cx="8915400" cy="3777622"/>
          </a:xfrm>
        </p:spPr>
        <p:txBody>
          <a:bodyPr/>
          <a:lstStyle/>
          <a:p>
            <a:pPr marL="0" indent="0">
              <a:buNone/>
            </a:pPr>
            <a:r>
              <a:rPr lang="en-US" dirty="0"/>
              <a:t>The Dataset represents realistic banking transaction behavior over multiple years and channels, enabling deep behavioral analysis.</a:t>
            </a:r>
          </a:p>
          <a:p>
            <a:pPr marL="0" indent="0">
              <a:buNone/>
            </a:pPr>
            <a:r>
              <a:rPr lang="en-US" b="1" dirty="0"/>
              <a:t>Dataset Characteristics:</a:t>
            </a:r>
          </a:p>
          <a:p>
            <a:r>
              <a:rPr lang="en-US" sz="1600" dirty="0"/>
              <a:t>153000+ Transactions Records</a:t>
            </a:r>
          </a:p>
          <a:p>
            <a:r>
              <a:rPr lang="en-US" sz="1600" dirty="0"/>
              <a:t>Time-based data (year, quarter, month)</a:t>
            </a:r>
          </a:p>
          <a:p>
            <a:r>
              <a:rPr lang="en-US" sz="1600" dirty="0"/>
              <a:t>Merchant categories and transaction channels</a:t>
            </a:r>
          </a:p>
          <a:p>
            <a:r>
              <a:rPr lang="en-US" sz="1600" dirty="0"/>
              <a:t>Geographic indicators (countries/regions)</a:t>
            </a:r>
          </a:p>
          <a:p>
            <a:r>
              <a:rPr lang="en-US" sz="1600" dirty="0"/>
              <a:t>Risk Score and Fraud Flag indicators</a:t>
            </a:r>
          </a:p>
        </p:txBody>
      </p:sp>
    </p:spTree>
    <p:extLst>
      <p:ext uri="{BB962C8B-B14F-4D97-AF65-F5344CB8AC3E}">
        <p14:creationId xmlns:p14="http://schemas.microsoft.com/office/powerpoint/2010/main" val="36053460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9D80F9-273F-665B-0550-9A3B520A7BE7}"/>
              </a:ext>
            </a:extLst>
          </p:cNvPr>
          <p:cNvSpPr>
            <a:spLocks noGrp="1"/>
          </p:cNvSpPr>
          <p:nvPr>
            <p:ph type="title"/>
          </p:nvPr>
        </p:nvSpPr>
        <p:spPr/>
        <p:txBody>
          <a:bodyPr/>
          <a:lstStyle/>
          <a:p>
            <a:r>
              <a:rPr lang="en-US" dirty="0"/>
              <a:t>Methodology (end-to-end Pipeline)</a:t>
            </a:r>
          </a:p>
        </p:txBody>
      </p:sp>
      <p:sp>
        <p:nvSpPr>
          <p:cNvPr id="3" name="Content Placeholder 2">
            <a:extLst>
              <a:ext uri="{FF2B5EF4-FFF2-40B4-BE49-F238E27FC236}">
                <a16:creationId xmlns:a16="http://schemas.microsoft.com/office/drawing/2014/main" id="{16515A67-74BD-9E19-7813-B2789C4F84D5}"/>
              </a:ext>
            </a:extLst>
          </p:cNvPr>
          <p:cNvSpPr>
            <a:spLocks noGrp="1"/>
          </p:cNvSpPr>
          <p:nvPr>
            <p:ph idx="1"/>
          </p:nvPr>
        </p:nvSpPr>
        <p:spPr>
          <a:xfrm>
            <a:off x="2589212" y="1905000"/>
            <a:ext cx="8915400" cy="3777622"/>
          </a:xfrm>
        </p:spPr>
        <p:txBody>
          <a:bodyPr/>
          <a:lstStyle/>
          <a:p>
            <a:pPr marL="0" indent="0">
              <a:buNone/>
            </a:pPr>
            <a:r>
              <a:rPr lang="en-US" dirty="0"/>
              <a:t>To Ensure scalability and realism, the project follows a structured analytics pipeline like real banking environments.</a:t>
            </a:r>
          </a:p>
          <a:p>
            <a:pPr marL="0" indent="0">
              <a:buNone/>
            </a:pPr>
            <a:r>
              <a:rPr lang="en-US" b="1" dirty="0"/>
              <a:t>Workflow:</a:t>
            </a:r>
          </a:p>
          <a:p>
            <a:r>
              <a:rPr lang="en-US" sz="1600" dirty="0"/>
              <a:t>Excel: Data cleaning, formatting, and preparation</a:t>
            </a:r>
          </a:p>
          <a:p>
            <a:r>
              <a:rPr lang="en-US" sz="1600" dirty="0"/>
              <a:t>SQL: Querying, Aggregations, fraud analysis, and KPI calculations</a:t>
            </a:r>
          </a:p>
          <a:p>
            <a:r>
              <a:rPr lang="en-US" sz="1600" dirty="0"/>
              <a:t>Power BI: Interactive dashboards and storytelling visuals</a:t>
            </a:r>
          </a:p>
          <a:p>
            <a:pPr marL="0" indent="0">
              <a:buNone/>
            </a:pPr>
            <a:r>
              <a:rPr lang="en-US" sz="1600" dirty="0"/>
              <a:t>This Layered approach ensures accuracy, performance, and clarity.</a:t>
            </a:r>
          </a:p>
        </p:txBody>
      </p:sp>
    </p:spTree>
    <p:extLst>
      <p:ext uri="{BB962C8B-B14F-4D97-AF65-F5344CB8AC3E}">
        <p14:creationId xmlns:p14="http://schemas.microsoft.com/office/powerpoint/2010/main" val="1611660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3A7AB7-6372-D093-75DC-626530ABBBB0}"/>
              </a:ext>
            </a:extLst>
          </p:cNvPr>
          <p:cNvSpPr>
            <a:spLocks noGrp="1"/>
          </p:cNvSpPr>
          <p:nvPr>
            <p:ph type="title"/>
          </p:nvPr>
        </p:nvSpPr>
        <p:spPr/>
        <p:txBody>
          <a:bodyPr/>
          <a:lstStyle/>
          <a:p>
            <a:r>
              <a:rPr lang="en-US" dirty="0"/>
              <a:t>Data Cleaning &amp; Preparation (Excel)</a:t>
            </a:r>
          </a:p>
        </p:txBody>
      </p:sp>
      <p:sp>
        <p:nvSpPr>
          <p:cNvPr id="3" name="Content Placeholder 2">
            <a:extLst>
              <a:ext uri="{FF2B5EF4-FFF2-40B4-BE49-F238E27FC236}">
                <a16:creationId xmlns:a16="http://schemas.microsoft.com/office/drawing/2014/main" id="{EF66727E-7C71-1948-AFAB-EF577B431A06}"/>
              </a:ext>
            </a:extLst>
          </p:cNvPr>
          <p:cNvSpPr>
            <a:spLocks noGrp="1"/>
          </p:cNvSpPr>
          <p:nvPr>
            <p:ph idx="1"/>
          </p:nvPr>
        </p:nvSpPr>
        <p:spPr>
          <a:xfrm>
            <a:off x="2589212" y="1905000"/>
            <a:ext cx="8915400" cy="3777622"/>
          </a:xfrm>
        </p:spPr>
        <p:txBody>
          <a:bodyPr/>
          <a:lstStyle/>
          <a:p>
            <a:pPr marL="0" indent="0">
              <a:buNone/>
            </a:pPr>
            <a:r>
              <a:rPr lang="en-US" dirty="0"/>
              <a:t>Raw Transactional data often contains inconsistencies that can distort analysis. Significant effort was invested in preparing the dataset for reliable analytics.</a:t>
            </a:r>
          </a:p>
          <a:p>
            <a:pPr marL="0" indent="0">
              <a:buNone/>
            </a:pPr>
            <a:r>
              <a:rPr lang="en-US" b="1" dirty="0"/>
              <a:t>Cleaning steps performed:</a:t>
            </a:r>
          </a:p>
          <a:p>
            <a:r>
              <a:rPr lang="en-US" sz="1600" dirty="0"/>
              <a:t>Standardized column formats and naming conventions</a:t>
            </a:r>
          </a:p>
          <a:p>
            <a:r>
              <a:rPr lang="en-US" sz="1600" dirty="0"/>
              <a:t>Handled missing and inconsistent values</a:t>
            </a:r>
          </a:p>
          <a:p>
            <a:r>
              <a:rPr lang="en-US" sz="1600" dirty="0"/>
              <a:t>Split and normalized columns for SQL compatibility</a:t>
            </a:r>
          </a:p>
          <a:p>
            <a:r>
              <a:rPr lang="en-US" sz="1600" dirty="0"/>
              <a:t>Optimized structure for Power BI modeling</a:t>
            </a:r>
          </a:p>
          <a:p>
            <a:pPr marL="0" indent="0">
              <a:buNone/>
            </a:pPr>
            <a:r>
              <a:rPr lang="en-US" b="1" dirty="0"/>
              <a:t>Result: </a:t>
            </a:r>
            <a:r>
              <a:rPr lang="en-US" dirty="0"/>
              <a:t>A clean, analysis-read dataset suitable for scalable querying and visualizations.</a:t>
            </a:r>
            <a:endParaRPr lang="en-US" b="1" dirty="0"/>
          </a:p>
        </p:txBody>
      </p:sp>
    </p:spTree>
    <p:extLst>
      <p:ext uri="{BB962C8B-B14F-4D97-AF65-F5344CB8AC3E}">
        <p14:creationId xmlns:p14="http://schemas.microsoft.com/office/powerpoint/2010/main" val="23628496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FDC9E4-426C-E933-DC3E-7B1A4101A069}"/>
              </a:ext>
            </a:extLst>
          </p:cNvPr>
          <p:cNvSpPr>
            <a:spLocks noGrp="1"/>
          </p:cNvSpPr>
          <p:nvPr>
            <p:ph type="title"/>
          </p:nvPr>
        </p:nvSpPr>
        <p:spPr/>
        <p:txBody>
          <a:bodyPr/>
          <a:lstStyle/>
          <a:p>
            <a:r>
              <a:rPr lang="en-US" dirty="0"/>
              <a:t>SQL Analysis Layer</a:t>
            </a:r>
          </a:p>
        </p:txBody>
      </p:sp>
      <p:sp>
        <p:nvSpPr>
          <p:cNvPr id="3" name="Content Placeholder 2">
            <a:extLst>
              <a:ext uri="{FF2B5EF4-FFF2-40B4-BE49-F238E27FC236}">
                <a16:creationId xmlns:a16="http://schemas.microsoft.com/office/drawing/2014/main" id="{DC8C6A0F-AD84-A6BA-D0FC-41428439EEF3}"/>
              </a:ext>
            </a:extLst>
          </p:cNvPr>
          <p:cNvSpPr>
            <a:spLocks noGrp="1"/>
          </p:cNvSpPr>
          <p:nvPr>
            <p:ph idx="1"/>
          </p:nvPr>
        </p:nvSpPr>
        <p:spPr>
          <a:xfrm>
            <a:off x="2589212" y="1905000"/>
            <a:ext cx="8915400" cy="3777622"/>
          </a:xfrm>
        </p:spPr>
        <p:txBody>
          <a:bodyPr>
            <a:normAutofit fontScale="85000" lnSpcReduction="20000"/>
          </a:bodyPr>
          <a:lstStyle/>
          <a:p>
            <a:pPr marL="0" indent="0">
              <a:buNone/>
            </a:pPr>
            <a:r>
              <a:rPr lang="en-US" dirty="0"/>
              <a:t>SQL acted as the analytical engine of this project, transforming cleaned transactional data into structured insights before visualization. Rather than pushing raw data directly into Power BI, SQL was used to validate trends, calculate risk metrics, and isolate fraud behavior, ensuring analytical accuracy and scalability.</a:t>
            </a:r>
          </a:p>
          <a:p>
            <a:pPr marL="0" indent="0">
              <a:buNone/>
            </a:pPr>
            <a:r>
              <a:rPr lang="en-US" dirty="0"/>
              <a:t>Through SQL, this project replicated how banks typically analyze transaction data at the backend level before exposing results to dashboards.</a:t>
            </a:r>
          </a:p>
          <a:p>
            <a:pPr marL="0" indent="0">
              <a:buNone/>
            </a:pPr>
            <a:r>
              <a:rPr lang="en-US" b="1" dirty="0"/>
              <a:t>Key SQL analysis performed.</a:t>
            </a:r>
          </a:p>
          <a:p>
            <a:r>
              <a:rPr lang="en-US" sz="1600" dirty="0"/>
              <a:t>Aggregation Transaction volume and Total monetary flow</a:t>
            </a:r>
          </a:p>
          <a:p>
            <a:r>
              <a:rPr lang="en-US" sz="1600" dirty="0"/>
              <a:t>Calculated Fraud rate and avg risk score</a:t>
            </a:r>
          </a:p>
          <a:p>
            <a:r>
              <a:rPr lang="en-US" sz="1600" dirty="0"/>
              <a:t>Identified high-risk Merchant category and </a:t>
            </a:r>
            <a:r>
              <a:rPr lang="en-US" sz="1600"/>
              <a:t>Transaction type</a:t>
            </a:r>
            <a:endParaRPr lang="en-US" sz="1600" dirty="0"/>
          </a:p>
          <a:p>
            <a:r>
              <a:rPr lang="en-US" sz="1600" dirty="0"/>
              <a:t>Time-series trend extraction</a:t>
            </a:r>
          </a:p>
          <a:p>
            <a:pPr marL="0" indent="0">
              <a:buNone/>
            </a:pPr>
            <a:r>
              <a:rPr lang="en-US" dirty="0"/>
              <a:t>This layer ensure accurate KPIs and reusable logic before visualization.</a:t>
            </a:r>
          </a:p>
          <a:p>
            <a:pPr marL="0" indent="0">
              <a:buNone/>
            </a:pPr>
            <a:endParaRPr lang="en-US" dirty="0"/>
          </a:p>
          <a:p>
            <a:pPr marL="0" indent="0">
              <a:buNone/>
            </a:pPr>
            <a:r>
              <a:rPr lang="en-US" dirty="0"/>
              <a:t>DO THIS SLIDE AGAIN</a:t>
            </a:r>
          </a:p>
        </p:txBody>
      </p:sp>
    </p:spTree>
    <p:extLst>
      <p:ext uri="{BB962C8B-B14F-4D97-AF65-F5344CB8AC3E}">
        <p14:creationId xmlns:p14="http://schemas.microsoft.com/office/powerpoint/2010/main" val="16749539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044C42-26D3-9EE4-0E31-C9F9749B2E2C}"/>
              </a:ext>
            </a:extLst>
          </p:cNvPr>
          <p:cNvSpPr>
            <a:spLocks noGrp="1"/>
          </p:cNvSpPr>
          <p:nvPr>
            <p:ph type="title"/>
          </p:nvPr>
        </p:nvSpPr>
        <p:spPr/>
        <p:txBody>
          <a:bodyPr/>
          <a:lstStyle/>
          <a:p>
            <a:r>
              <a:rPr lang="en-US" dirty="0"/>
              <a:t>Key Performance Indicators (KPIs)</a:t>
            </a:r>
          </a:p>
        </p:txBody>
      </p:sp>
      <p:sp>
        <p:nvSpPr>
          <p:cNvPr id="3" name="Content Placeholder 2">
            <a:extLst>
              <a:ext uri="{FF2B5EF4-FFF2-40B4-BE49-F238E27FC236}">
                <a16:creationId xmlns:a16="http://schemas.microsoft.com/office/drawing/2014/main" id="{5AD7D877-273A-2C32-A25E-309BF2DD96F3}"/>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2080373582"/>
      </p:ext>
    </p:extLst>
  </p:cSld>
  <p:clrMapOvr>
    <a:masterClrMapping/>
  </p:clrMapOvr>
</p:sld>
</file>

<file path=ppt/theme/theme1.xml><?xml version="1.0" encoding="utf-8"?>
<a:theme xmlns:a="http://schemas.openxmlformats.org/drawingml/2006/main" name="Wisp">
  <a:themeElements>
    <a:clrScheme name="Red forr Bank-Project">
      <a:dk1>
        <a:srgbClr val="000000"/>
      </a:dk1>
      <a:lt1>
        <a:srgbClr val="FFFFFF"/>
      </a:lt1>
      <a:dk2>
        <a:srgbClr val="5E5E5E"/>
      </a:dk2>
      <a:lt2>
        <a:srgbClr val="DDDDDD"/>
      </a:lt2>
      <a:accent1>
        <a:srgbClr val="BF0000"/>
      </a:accent1>
      <a:accent2>
        <a:srgbClr val="C70000"/>
      </a:accent2>
      <a:accent3>
        <a:srgbClr val="FD0000"/>
      </a:accent3>
      <a:accent4>
        <a:srgbClr val="8E2B54"/>
      </a:accent4>
      <a:accent5>
        <a:srgbClr val="FF0008"/>
      </a:accent5>
      <a:accent6>
        <a:srgbClr val="E11D7A"/>
      </a:accent6>
      <a:hlink>
        <a:srgbClr val="FB5562"/>
      </a:hlink>
      <a:folHlink>
        <a:srgbClr val="C20843"/>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4F34B87B-9C7A-41AE-A6CB-48536223DFFD}"/>
    </a:ext>
  </a:extLst>
</a:theme>
</file>

<file path=docProps/app.xml><?xml version="1.0" encoding="utf-8"?>
<Properties xmlns="http://schemas.openxmlformats.org/officeDocument/2006/extended-properties" xmlns:vt="http://schemas.openxmlformats.org/officeDocument/2006/docPropsVTypes">
  <Template>Wisp</Template>
  <TotalTime>165</TotalTime>
  <Words>569</Words>
  <Application>Microsoft Macintosh PowerPoint</Application>
  <PresentationFormat>Widescreen</PresentationFormat>
  <Paragraphs>60</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Century Gothic</vt:lpstr>
      <vt:lpstr>Wingdings</vt:lpstr>
      <vt:lpstr>Wingdings 3</vt:lpstr>
      <vt:lpstr>Wisp</vt:lpstr>
      <vt:lpstr>Global Banking Fraud Detection &amp; Risk Analysis</vt:lpstr>
      <vt:lpstr>Executive Summary</vt:lpstr>
      <vt:lpstr>Business Problem</vt:lpstr>
      <vt:lpstr>Project Objectives</vt:lpstr>
      <vt:lpstr>Data Overview</vt:lpstr>
      <vt:lpstr>Methodology (end-to-end Pipeline)</vt:lpstr>
      <vt:lpstr>Data Cleaning &amp; Preparation (Excel)</vt:lpstr>
      <vt:lpstr>SQL Analysis Layer</vt:lpstr>
      <vt:lpstr>Key Performance Indicators (KPIs)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Garv .</dc:creator>
  <cp:lastModifiedBy>Garv .</cp:lastModifiedBy>
  <cp:revision>1</cp:revision>
  <dcterms:created xsi:type="dcterms:W3CDTF">2025-12-19T19:15:17Z</dcterms:created>
  <dcterms:modified xsi:type="dcterms:W3CDTF">2025-12-19T22:23:18Z</dcterms:modified>
</cp:coreProperties>
</file>