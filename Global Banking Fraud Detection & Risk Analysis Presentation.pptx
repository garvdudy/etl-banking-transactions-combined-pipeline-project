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8"/>
    <p:restoredTop sz="94598"/>
  </p:normalViewPr>
  <p:slideViewPr>
    <p:cSldViewPr snapToGrid="0">
      <p:cViewPr varScale="1">
        <p:scale>
          <a:sx n="151" d="100"/>
          <a:sy n="151" d="100"/>
        </p:scale>
        <p:origin x="8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13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0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22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769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757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52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36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294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52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47445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554435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672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704432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856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03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705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946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20DD8-6802-59FC-A114-E34C2B524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5085" y="2247116"/>
            <a:ext cx="6689047" cy="2363768"/>
          </a:xfrm>
        </p:spPr>
        <p:txBody>
          <a:bodyPr>
            <a:normAutofit/>
          </a:bodyPr>
          <a:lstStyle/>
          <a:p>
            <a:pPr algn="r"/>
            <a:r>
              <a:rPr lang="en-CA" sz="4800" dirty="0"/>
              <a:t>Global Banking Fraud Detection &amp; Risk Analysis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E20E8-DF3C-6C16-A0DB-25E10F7C5D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53400" y="4610884"/>
            <a:ext cx="3750732" cy="215117"/>
          </a:xfrm>
        </p:spPr>
        <p:txBody>
          <a:bodyPr>
            <a:normAutofit/>
          </a:bodyPr>
          <a:lstStyle/>
          <a:p>
            <a:r>
              <a:rPr lang="en-CA" sz="800" dirty="0"/>
              <a:t>An end-to-end data analytics case study using Excel, SQL, and Power BI</a:t>
            </a:r>
            <a:endParaRPr lang="en-US" sz="800" i="1" dirty="0"/>
          </a:p>
        </p:txBody>
      </p:sp>
      <p:pic>
        <p:nvPicPr>
          <p:cNvPr id="4" name="Picture 3" descr="Triangular abstract background">
            <a:extLst>
              <a:ext uri="{FF2B5EF4-FFF2-40B4-BE49-F238E27FC236}">
                <a16:creationId xmlns:a16="http://schemas.microsoft.com/office/drawing/2014/main" id="{3F9C1799-5AF0-4294-D334-59517A4AD3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86" r="2964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1FC603-A676-A566-1B81-7E094E492FF4}"/>
              </a:ext>
            </a:extLst>
          </p:cNvPr>
          <p:cNvSpPr txBox="1"/>
          <p:nvPr/>
        </p:nvSpPr>
        <p:spPr>
          <a:xfrm>
            <a:off x="9829799" y="6460076"/>
            <a:ext cx="2362200" cy="397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/>
              <a:t>Garv Dudy</a:t>
            </a:r>
          </a:p>
          <a:p>
            <a:pPr algn="r"/>
            <a:r>
              <a:rPr lang="en-US" sz="1000" i="1" dirty="0"/>
              <a:t>Data Analyst Project | Winter 2025</a:t>
            </a:r>
          </a:p>
        </p:txBody>
      </p:sp>
    </p:spTree>
    <p:extLst>
      <p:ext uri="{BB962C8B-B14F-4D97-AF65-F5344CB8AC3E}">
        <p14:creationId xmlns:p14="http://schemas.microsoft.com/office/powerpoint/2010/main" val="294098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2D392-50B4-BB79-4A63-CDFD5004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225E9-BAEE-3E2A-B134-D8FFD710C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Modern banking systems process millions of transactions daily, making it increasingly difficult to detect fraud early without data-driven monitoring. This project analyzes a large-scale banking transaction dataset to uncover transaction behavior, risk exposure, and fraud patterns using an end-to-end analytics pipeline.</a:t>
            </a:r>
          </a:p>
          <a:p>
            <a:pPr marL="0" indent="0">
              <a:buNone/>
            </a:pPr>
            <a:r>
              <a:rPr lang="en-CA" b="1" dirty="0"/>
              <a:t>Key Highlights:</a:t>
            </a:r>
            <a:endParaRPr lang="en-US" b="1" dirty="0"/>
          </a:p>
          <a:p>
            <a:r>
              <a:rPr lang="en-US" sz="1600" dirty="0"/>
              <a:t>Analyzed 153,000 + banking Transactions</a:t>
            </a:r>
          </a:p>
          <a:p>
            <a:r>
              <a:rPr lang="en-US" sz="1600" dirty="0"/>
              <a:t>Built a full pipeline from Excel </a:t>
            </a:r>
            <a:r>
              <a:rPr lang="en-US" sz="1600" dirty="0">
                <a:sym typeface="Wingdings" pitchFamily="2" charset="2"/>
              </a:rPr>
              <a:t> SQL  Power BI</a:t>
            </a:r>
            <a:endParaRPr lang="en-US" sz="1600" dirty="0"/>
          </a:p>
          <a:p>
            <a:r>
              <a:rPr lang="en-US" sz="1600" dirty="0"/>
              <a:t>Identified fraud concentration, risk signals, and spending behavior</a:t>
            </a:r>
          </a:p>
          <a:p>
            <a:r>
              <a:rPr lang="en-US" sz="1600" dirty="0"/>
              <a:t>Delivered executive-level and analyst-level dashboards for decision making.</a:t>
            </a:r>
          </a:p>
        </p:txBody>
      </p:sp>
    </p:spTree>
    <p:extLst>
      <p:ext uri="{BB962C8B-B14F-4D97-AF65-F5344CB8AC3E}">
        <p14:creationId xmlns:p14="http://schemas.microsoft.com/office/powerpoint/2010/main" val="56535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C1C7-D10E-EC8C-1D70-9613B312F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B824B-891F-A9A7-0D8B-76A11953A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Banks face a critical challenge: high Transactions volume increases fraud risk, but manual monitoring cannot scale. Fraud often represents a small percentage of total transactions, yet even a minor increase can lead to significant financial losses and reputational damage.</a:t>
            </a:r>
          </a:p>
          <a:p>
            <a:pPr marL="0" indent="0">
              <a:buNone/>
            </a:pPr>
            <a:r>
              <a:rPr lang="en-US" b="1" dirty="0"/>
              <a:t>Key Challenges Addressed:</a:t>
            </a:r>
          </a:p>
          <a:p>
            <a:r>
              <a:rPr lang="en-US" sz="1600" dirty="0"/>
              <a:t>Detecting Fraud Hidden within large transaction volumes</a:t>
            </a:r>
          </a:p>
          <a:p>
            <a:r>
              <a:rPr lang="en-US" sz="1600" dirty="0"/>
              <a:t>Understanding risk beyond confirm fraud</a:t>
            </a:r>
          </a:p>
          <a:p>
            <a:r>
              <a:rPr lang="en-US" sz="1600" dirty="0"/>
              <a:t>Identifying high-risk merchants, regions, and channels</a:t>
            </a:r>
          </a:p>
          <a:p>
            <a:r>
              <a:rPr lang="en-US" sz="1600" dirty="0"/>
              <a:t>Supporting early intervention, not just reactive controls</a:t>
            </a:r>
          </a:p>
        </p:txBody>
      </p:sp>
    </p:spTree>
    <p:extLst>
      <p:ext uri="{BB962C8B-B14F-4D97-AF65-F5344CB8AC3E}">
        <p14:creationId xmlns:p14="http://schemas.microsoft.com/office/powerpoint/2010/main" val="183451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CCA4-F93D-701E-30F4-A906868D5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2F787-5334-7611-463A-A617A56A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project aims to move beyond simple fraud counts and instead analyze transaction behavior holistically to support smarter banking decisions.</a:t>
            </a:r>
          </a:p>
          <a:p>
            <a:pPr marL="0" indent="0">
              <a:buNone/>
            </a:pPr>
            <a:r>
              <a:rPr lang="en-US" b="1" dirty="0"/>
              <a:t>Objectives:</a:t>
            </a:r>
          </a:p>
          <a:p>
            <a:r>
              <a:rPr lang="en-US" sz="1600" dirty="0"/>
              <a:t>Analyze transaction volume and monetary flow across the system</a:t>
            </a:r>
          </a:p>
          <a:p>
            <a:r>
              <a:rPr lang="en-US" sz="1600" dirty="0"/>
              <a:t>Measure Fraud rate and transaction risk exposure</a:t>
            </a:r>
          </a:p>
          <a:p>
            <a:r>
              <a:rPr lang="en-US" sz="1600" dirty="0"/>
              <a:t>Identify high-risk merchant categories and transaction types</a:t>
            </a:r>
          </a:p>
          <a:p>
            <a:r>
              <a:rPr lang="en-US" sz="1600" dirty="0"/>
              <a:t>Build Dashboards that support executives, risk teams and analysts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0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2549F-AAE3-EC62-3059-574AEDF89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7BDF4-9EBD-F242-4089-0354796F9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Dataset represents realistic banking transaction behavior over multiple years and channels, enabling deep behavioral analysis.</a:t>
            </a:r>
          </a:p>
          <a:p>
            <a:pPr marL="0" indent="0">
              <a:buNone/>
            </a:pPr>
            <a:r>
              <a:rPr lang="en-US" b="1" dirty="0"/>
              <a:t>Dataset Characteristics:</a:t>
            </a:r>
          </a:p>
          <a:p>
            <a:r>
              <a:rPr lang="en-US" sz="1600" dirty="0"/>
              <a:t>153000+ Transactions Records</a:t>
            </a:r>
          </a:p>
          <a:p>
            <a:r>
              <a:rPr lang="en-US" sz="1600" dirty="0"/>
              <a:t>Time-based data (year, quarter, month)</a:t>
            </a:r>
          </a:p>
          <a:p>
            <a:r>
              <a:rPr lang="en-US" sz="1600" dirty="0"/>
              <a:t>Merchant categories and transaction channels</a:t>
            </a:r>
          </a:p>
          <a:p>
            <a:r>
              <a:rPr lang="en-US" sz="1600" dirty="0"/>
              <a:t>Geographic indicators (countries/regions)</a:t>
            </a:r>
          </a:p>
          <a:p>
            <a:r>
              <a:rPr lang="en-US" sz="1600" dirty="0"/>
              <a:t>Risk Score and Fraud Flag indicators</a:t>
            </a:r>
          </a:p>
        </p:txBody>
      </p:sp>
    </p:spTree>
    <p:extLst>
      <p:ext uri="{BB962C8B-B14F-4D97-AF65-F5344CB8AC3E}">
        <p14:creationId xmlns:p14="http://schemas.microsoft.com/office/powerpoint/2010/main" val="3605346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80F9-273F-665B-0550-9A3B520A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(end-to-end Pipeline)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15A67-74BD-9E19-7813-B2789C4F8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Ensure scalability and realism, the project follows a structured analytics pipeline like real banking environments.</a:t>
            </a:r>
          </a:p>
          <a:p>
            <a:pPr marL="0" indent="0">
              <a:buNone/>
            </a:pPr>
            <a:r>
              <a:rPr lang="en-US" b="1" dirty="0"/>
              <a:t>Workflow:</a:t>
            </a:r>
          </a:p>
          <a:p>
            <a:r>
              <a:rPr lang="en-US" sz="1600" dirty="0"/>
              <a:t>Excel: Data cleaning, formatting, and preparation</a:t>
            </a:r>
          </a:p>
          <a:p>
            <a:r>
              <a:rPr lang="en-US" sz="1600" dirty="0"/>
              <a:t>SQL: Queries, Aggregations, fraud analysis, and KPI calculations</a:t>
            </a:r>
          </a:p>
          <a:p>
            <a:r>
              <a:rPr lang="en-US" sz="1600" dirty="0"/>
              <a:t>Power BI: Interactive dashboards and storytelling visuals</a:t>
            </a:r>
          </a:p>
          <a:p>
            <a:pPr marL="0" indent="0">
              <a:buNone/>
            </a:pPr>
            <a:r>
              <a:rPr lang="en-US" sz="1600" dirty="0"/>
              <a:t>This Layered approach ensures accuracy, performance, and clarity.</a:t>
            </a:r>
          </a:p>
        </p:txBody>
      </p:sp>
    </p:spTree>
    <p:extLst>
      <p:ext uri="{BB962C8B-B14F-4D97-AF65-F5344CB8AC3E}">
        <p14:creationId xmlns:p14="http://schemas.microsoft.com/office/powerpoint/2010/main" val="161166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7AB7-6372-D093-75DC-626530ABB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6727E-7C71-1948-AFAB-EF577B431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4965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Red forr Bank-Project">
      <a:dk1>
        <a:srgbClr val="000000"/>
      </a:dk1>
      <a:lt1>
        <a:srgbClr val="FFFFFF"/>
      </a:lt1>
      <a:dk2>
        <a:srgbClr val="5E5E5E"/>
      </a:dk2>
      <a:lt2>
        <a:srgbClr val="DDDDDD"/>
      </a:lt2>
      <a:accent1>
        <a:srgbClr val="BF0000"/>
      </a:accent1>
      <a:accent2>
        <a:srgbClr val="C70000"/>
      </a:accent2>
      <a:accent3>
        <a:srgbClr val="FD0000"/>
      </a:accent3>
      <a:accent4>
        <a:srgbClr val="8E2B54"/>
      </a:accent4>
      <a:accent5>
        <a:srgbClr val="FF0008"/>
      </a:accent5>
      <a:accent6>
        <a:srgbClr val="E11D7A"/>
      </a:accent6>
      <a:hlink>
        <a:srgbClr val="FB5562"/>
      </a:hlink>
      <a:folHlink>
        <a:srgbClr val="C20843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74</TotalTime>
  <Words>370</Words>
  <Application>Microsoft Macintosh PowerPoint</Application>
  <PresentationFormat>Widescreen</PresentationFormat>
  <Paragraphs>40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Global Banking Fraud Detection &amp; Risk Analysis</vt:lpstr>
      <vt:lpstr>Executive Summary</vt:lpstr>
      <vt:lpstr>Business Problem</vt:lpstr>
      <vt:lpstr>Project Objectives</vt:lpstr>
      <vt:lpstr>Data Overview</vt:lpstr>
      <vt:lpstr>Methodology (end-to-end Pipeline)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Garv .</dc:creator>
  <cp:lastModifiedBy>Garv .</cp:lastModifiedBy>
  <cp:revision>1</cp:revision>
  <dcterms:created xsi:type="dcterms:W3CDTF">2025-12-19T19:15:17Z</dcterms:created>
  <dcterms:modified xsi:type="dcterms:W3CDTF">2025-12-19T20:52:12Z</dcterms:modified>
</cp:coreProperties>
</file>